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75" r:id="rId3"/>
    <p:sldId id="257" r:id="rId4"/>
    <p:sldId id="258" r:id="rId5"/>
    <p:sldId id="262" r:id="rId6"/>
    <p:sldId id="265" r:id="rId7"/>
    <p:sldId id="266" r:id="rId8"/>
    <p:sldId id="281" r:id="rId9"/>
    <p:sldId id="276" r:id="rId10"/>
    <p:sldId id="268" r:id="rId11"/>
    <p:sldId id="269" r:id="rId12"/>
    <p:sldId id="263" r:id="rId13"/>
    <p:sldId id="264" r:id="rId14"/>
    <p:sldId id="273" r:id="rId15"/>
    <p:sldId id="290" r:id="rId16"/>
    <p:sldId id="277" r:id="rId17"/>
    <p:sldId id="274" r:id="rId18"/>
    <p:sldId id="283" r:id="rId19"/>
    <p:sldId id="289" r:id="rId20"/>
    <p:sldId id="271" r:id="rId21"/>
    <p:sldId id="282" r:id="rId22"/>
    <p:sldId id="280" r:id="rId23"/>
    <p:sldId id="278" r:id="rId24"/>
    <p:sldId id="279" r:id="rId25"/>
    <p:sldId id="291" r:id="rId26"/>
    <p:sldId id="287" r:id="rId27"/>
    <p:sldId id="288" r:id="rId28"/>
    <p:sldId id="261" r:id="rId29"/>
    <p:sldId id="284" r:id="rId30"/>
    <p:sldId id="285" r:id="rId31"/>
    <p:sldId id="286" r:id="rId32"/>
    <p:sldId id="270" r:id="rId33"/>
    <p:sldId id="26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D8E3"/>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7F235F-6F17-45D0-BAEB-E655FA41D19F}" v="1220" dt="2026-02-28T22:34:47.4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92241" autoAdjust="0"/>
  </p:normalViewPr>
  <p:slideViewPr>
    <p:cSldViewPr snapToGrid="0">
      <p:cViewPr varScale="1">
        <p:scale>
          <a:sx n="123" d="100"/>
          <a:sy n="123" d="100"/>
        </p:scale>
        <p:origin x="230"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4A69DD-57AF-4D82-8B9D-45C505689E2E}"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800552-50F2-4D62-BE3A-CFEB2CAE8D55}" type="slidenum">
              <a:rPr lang="en-IN" smtClean="0"/>
              <a:t>‹#›</a:t>
            </a:fld>
            <a:endParaRPr lang="en-IN"/>
          </a:p>
        </p:txBody>
      </p:sp>
    </p:spTree>
    <p:extLst>
      <p:ext uri="{BB962C8B-B14F-4D97-AF65-F5344CB8AC3E}">
        <p14:creationId xmlns:p14="http://schemas.microsoft.com/office/powerpoint/2010/main" val="809625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B6BD5-2975-6831-F4AE-4E656A440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B3701-C98A-6AA8-53AB-F3A7F484DB4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109BE5A-6B78-C1BD-58AE-DB67EA48DF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B9F25B2-5D94-6744-02C1-F926FC388C3B}"/>
              </a:ext>
            </a:extLst>
          </p:cNvPr>
          <p:cNvSpPr>
            <a:spLocks noGrp="1"/>
          </p:cNvSpPr>
          <p:nvPr>
            <p:ph type="sldNum" sz="quarter" idx="5"/>
          </p:nvPr>
        </p:nvSpPr>
        <p:spPr/>
        <p:txBody>
          <a:bodyPr/>
          <a:lstStyle/>
          <a:p>
            <a:fld id="{57800552-50F2-4D62-BE3A-CFEB2CAE8D55}" type="slidenum">
              <a:rPr lang="en-IN" smtClean="0"/>
              <a:t>22</a:t>
            </a:fld>
            <a:endParaRPr lang="en-IN"/>
          </a:p>
        </p:txBody>
      </p:sp>
    </p:spTree>
    <p:extLst>
      <p:ext uri="{BB962C8B-B14F-4D97-AF65-F5344CB8AC3E}">
        <p14:creationId xmlns:p14="http://schemas.microsoft.com/office/powerpoint/2010/main" val="2205833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800552-50F2-4D62-BE3A-CFEB2CAE8D55}" type="slidenum">
              <a:rPr lang="en-IN" smtClean="0"/>
              <a:t>23</a:t>
            </a:fld>
            <a:endParaRPr lang="en-IN"/>
          </a:p>
        </p:txBody>
      </p:sp>
    </p:spTree>
    <p:extLst>
      <p:ext uri="{BB962C8B-B14F-4D97-AF65-F5344CB8AC3E}">
        <p14:creationId xmlns:p14="http://schemas.microsoft.com/office/powerpoint/2010/main" val="895610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C9193-9026-1717-DEC1-C8195A9A0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D18E3-5ACE-975C-550D-11D9AA44E5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DF31BE2-9219-ACDD-D0DA-606E866993FB}"/>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1. scripts/generate_changed_files_list.py</a:t>
            </a:r>
          </a:p>
          <a:p>
            <a:r>
              <a:rPr lang="en-US" sz="1200" b="0" kern="1200" dirty="0">
                <a:solidFill>
                  <a:schemeClr val="tx1"/>
                </a:solidFill>
                <a:effectLst/>
                <a:latin typeface="+mn-lt"/>
                <a:ea typeface="+mn-ea"/>
                <a:cs typeface="+mn-cs"/>
              </a:rPr>
              <a:t>   - This python script finds the list of changed files and libraries in the current branch and saves the details in the files under the folder 'CICD/Temp/</a:t>
            </a:r>
            <a:r>
              <a:rPr lang="en-US" sz="1200" b="0" kern="1200" dirty="0" err="1">
                <a:solidFill>
                  <a:schemeClr val="tx1"/>
                </a:solidFill>
                <a:effectLst/>
                <a:latin typeface="+mn-lt"/>
                <a:ea typeface="+mn-ea"/>
                <a:cs typeface="+mn-cs"/>
              </a:rPr>
              <a:t>CheckModifiedLVFiles</a:t>
            </a:r>
            <a:r>
              <a:rPr lang="en-US" sz="1200" b="0" kern="1200" dirty="0">
                <a:solidFill>
                  <a:schemeClr val="tx1"/>
                </a:solidFill>
                <a:effectLst/>
                <a:latin typeface="+mn-lt"/>
                <a:ea typeface="+mn-ea"/>
                <a:cs typeface="+mn-cs"/>
              </a:rPr>
              <a:t>/'. This is useful for pull request reviews to perform automated checks only on the libraries that are edited in the current branch.</a:t>
            </a:r>
          </a:p>
          <a:p>
            <a:r>
              <a:rPr lang="en-US" sz="1200" b="0" kern="1200" dirty="0">
                <a:solidFill>
                  <a:schemeClr val="tx1"/>
                </a:solidFill>
                <a:effectLst/>
                <a:latin typeface="+mn-lt"/>
                <a:ea typeface="+mn-ea"/>
                <a:cs typeface="+mn-cs"/>
              </a:rPr>
              <a:t>2. CICD/AutomatedChecks/UnexpectedDepsCheck.vi</a:t>
            </a:r>
          </a:p>
          <a:p>
            <a:r>
              <a:rPr lang="en-US" sz="1200" b="0" kern="1200" dirty="0">
                <a:solidFill>
                  <a:schemeClr val="tx1"/>
                </a:solidFill>
                <a:effectLst/>
                <a:latin typeface="+mn-lt"/>
                <a:ea typeface="+mn-ea"/>
                <a:cs typeface="+mn-cs"/>
              </a:rPr>
              <a:t>   - This VI compares the expected dependencies (defined in .deps files) with the actual dependencies (programmatically read from the lvproj files) and reports any unexpected dependencies.</a:t>
            </a:r>
          </a:p>
          <a:p>
            <a:r>
              <a:rPr lang="en-US" sz="1200" b="0" kern="1200" dirty="0">
                <a:solidFill>
                  <a:schemeClr val="tx1"/>
                </a:solidFill>
                <a:effectLst/>
                <a:latin typeface="+mn-lt"/>
                <a:ea typeface="+mn-ea"/>
                <a:cs typeface="+mn-cs"/>
              </a:rPr>
              <a:t>   - Option `</a:t>
            </a:r>
            <a:r>
              <a:rPr lang="en-US" sz="1200" b="0" kern="1200" dirty="0" err="1">
                <a:solidFill>
                  <a:schemeClr val="tx1"/>
                </a:solidFill>
                <a:effectLst/>
                <a:latin typeface="+mn-lt"/>
                <a:ea typeface="+mn-ea"/>
                <a:cs typeface="+mn-cs"/>
              </a:rPr>
              <a:t>CheckChangedLibrariesOnly</a:t>
            </a:r>
            <a:r>
              <a:rPr lang="en-US" sz="1200" b="0" kern="1200" dirty="0">
                <a:solidFill>
                  <a:schemeClr val="tx1"/>
                </a:solidFill>
                <a:effectLst/>
                <a:latin typeface="+mn-lt"/>
                <a:ea typeface="+mn-ea"/>
                <a:cs typeface="+mn-cs"/>
              </a:rPr>
              <a:t>` is available to check only the libraries that are edited in the current branch, which is useful for pull request reviews. To use this option, the script 'scripts/generate_changed_files_list.py' need to be run before running this check.</a:t>
            </a:r>
          </a:p>
          <a:p>
            <a:r>
              <a:rPr lang="en-US" sz="1200" b="0" kern="1200" dirty="0">
                <a:solidFill>
                  <a:schemeClr val="tx1"/>
                </a:solidFill>
                <a:effectLst/>
                <a:latin typeface="+mn-lt"/>
                <a:ea typeface="+mn-ea"/>
                <a:cs typeface="+mn-cs"/>
              </a:rPr>
              <a:t>3. CICD/AutomatedChecks/UpdateActualDepsList.vi</a:t>
            </a:r>
          </a:p>
          <a:p>
            <a:r>
              <a:rPr lang="en-US" sz="1200" b="0" kern="1200" dirty="0">
                <a:solidFill>
                  <a:schemeClr val="tx1"/>
                </a:solidFill>
                <a:effectLst/>
                <a:latin typeface="+mn-lt"/>
                <a:ea typeface="+mn-ea"/>
                <a:cs typeface="+mn-cs"/>
              </a:rPr>
              <a:t>   - This VI updates the </a:t>
            </a:r>
            <a:r>
              <a:rPr lang="en-US" sz="1200" b="0" kern="1200" dirty="0" err="1">
                <a:solidFill>
                  <a:schemeClr val="tx1"/>
                </a:solidFill>
                <a:effectLst/>
                <a:latin typeface="+mn-lt"/>
                <a:ea typeface="+mn-ea"/>
                <a:cs typeface="+mn-cs"/>
              </a:rPr>
              <a:t>ActualDepsList.adeps</a:t>
            </a:r>
            <a:r>
              <a:rPr lang="en-US" sz="1200" b="0" kern="1200" dirty="0">
                <a:solidFill>
                  <a:schemeClr val="tx1"/>
                </a:solidFill>
                <a:effectLst/>
                <a:latin typeface="+mn-lt"/>
                <a:ea typeface="+mn-ea"/>
                <a:cs typeface="+mn-cs"/>
              </a:rPr>
              <a:t> file with the current actual dependencies read from the lvproj files.</a:t>
            </a:r>
          </a:p>
          <a:p>
            <a:r>
              <a:rPr lang="en-US" sz="1200" b="0" kern="1200" dirty="0">
                <a:solidFill>
                  <a:schemeClr val="tx1"/>
                </a:solidFill>
                <a:effectLst/>
                <a:latin typeface="+mn-lt"/>
                <a:ea typeface="+mn-ea"/>
                <a:cs typeface="+mn-cs"/>
              </a:rPr>
              <a:t>   - Option `</a:t>
            </a:r>
            <a:r>
              <a:rPr lang="en-US" sz="1200" b="0" kern="1200" dirty="0" err="1">
                <a:solidFill>
                  <a:schemeClr val="tx1"/>
                </a:solidFill>
                <a:effectLst/>
                <a:latin typeface="+mn-lt"/>
                <a:ea typeface="+mn-ea"/>
                <a:cs typeface="+mn-cs"/>
              </a:rPr>
              <a:t>UpdateForChangedLibrariesOnly</a:t>
            </a:r>
            <a:r>
              <a:rPr lang="en-US" sz="1200" b="0" kern="1200" dirty="0">
                <a:solidFill>
                  <a:schemeClr val="tx1"/>
                </a:solidFill>
                <a:effectLst/>
                <a:latin typeface="+mn-lt"/>
                <a:ea typeface="+mn-ea"/>
                <a:cs typeface="+mn-cs"/>
              </a:rPr>
              <a:t>` is available to update the sections of the </a:t>
            </a:r>
            <a:r>
              <a:rPr lang="en-US" sz="1200" b="0" kern="1200" dirty="0" err="1">
                <a:solidFill>
                  <a:schemeClr val="tx1"/>
                </a:solidFill>
                <a:effectLst/>
                <a:latin typeface="+mn-lt"/>
                <a:ea typeface="+mn-ea"/>
                <a:cs typeface="+mn-cs"/>
              </a:rPr>
              <a:t>ActualDepsList.adeps</a:t>
            </a:r>
            <a:r>
              <a:rPr lang="en-US" sz="1200" b="0" kern="1200" dirty="0">
                <a:solidFill>
                  <a:schemeClr val="tx1"/>
                </a:solidFill>
                <a:effectLst/>
                <a:latin typeface="+mn-lt"/>
                <a:ea typeface="+mn-ea"/>
                <a:cs typeface="+mn-cs"/>
              </a:rPr>
              <a:t> that correspond to the libraries that are edited in the current branch, which is useful for pull request reviews. To use this option, the script 'scripts/generate_changed_files_list.py' need to be run before running this VI.</a:t>
            </a:r>
          </a:p>
          <a:p>
            <a:r>
              <a:rPr lang="en-US" sz="1200" b="0" kern="1200" dirty="0">
                <a:solidFill>
                  <a:schemeClr val="tx1"/>
                </a:solidFill>
                <a:effectLst/>
                <a:latin typeface="+mn-lt"/>
                <a:ea typeface="+mn-ea"/>
                <a:cs typeface="+mn-cs"/>
              </a:rPr>
              <a:t>4. scripts/find_circular_paths.py</a:t>
            </a:r>
          </a:p>
          <a:p>
            <a:r>
              <a:rPr lang="en-US" sz="1200" b="0" kern="1200" dirty="0">
                <a:solidFill>
                  <a:schemeClr val="tx1"/>
                </a:solidFill>
                <a:effectLst/>
                <a:latin typeface="+mn-lt"/>
                <a:ea typeface="+mn-ea"/>
                <a:cs typeface="+mn-cs"/>
              </a:rPr>
              <a:t>   - This script finds circular dependency paths in the </a:t>
            </a:r>
            <a:r>
              <a:rPr lang="en-US" sz="1200" b="0" kern="1200" dirty="0" err="1">
                <a:solidFill>
                  <a:schemeClr val="tx1"/>
                </a:solidFill>
                <a:effectLst/>
                <a:latin typeface="+mn-lt"/>
                <a:ea typeface="+mn-ea"/>
                <a:cs typeface="+mn-cs"/>
              </a:rPr>
              <a:t>ActualDepsList.adeps</a:t>
            </a:r>
            <a:r>
              <a:rPr lang="en-US" sz="1200" b="0" kern="1200" dirty="0">
                <a:solidFill>
                  <a:schemeClr val="tx1"/>
                </a:solidFill>
                <a:effectLst/>
                <a:latin typeface="+mn-lt"/>
                <a:ea typeface="+mn-ea"/>
                <a:cs typeface="+mn-cs"/>
              </a:rPr>
              <a:t> file and reports them in the console output.</a:t>
            </a:r>
          </a:p>
          <a:p>
            <a:r>
              <a:rPr lang="en-US" sz="1200" b="0" kern="1200" dirty="0">
                <a:solidFill>
                  <a:schemeClr val="tx1"/>
                </a:solidFill>
                <a:effectLst/>
                <a:latin typeface="+mn-lt"/>
                <a:ea typeface="+mn-ea"/>
                <a:cs typeface="+mn-cs"/>
              </a:rPr>
              <a:t>5. scripts/generate_full_dependency_graph.py</a:t>
            </a:r>
          </a:p>
          <a:p>
            <a:r>
              <a:rPr lang="en-US" sz="1200" b="0" kern="1200" dirty="0">
                <a:solidFill>
                  <a:schemeClr val="tx1"/>
                </a:solidFill>
                <a:effectLst/>
                <a:latin typeface="+mn-lt"/>
                <a:ea typeface="+mn-ea"/>
                <a:cs typeface="+mn-cs"/>
              </a:rPr>
              <a:t>   - This script generates a full dependency graph image from the </a:t>
            </a:r>
            <a:r>
              <a:rPr lang="en-US" sz="1200" b="0" kern="1200" dirty="0" err="1">
                <a:solidFill>
                  <a:schemeClr val="tx1"/>
                </a:solidFill>
                <a:effectLst/>
                <a:latin typeface="+mn-lt"/>
                <a:ea typeface="+mn-ea"/>
                <a:cs typeface="+mn-cs"/>
              </a:rPr>
              <a:t>ActualDepsList.adeps</a:t>
            </a:r>
            <a:r>
              <a:rPr lang="en-US" sz="1200" b="0" kern="1200" dirty="0">
                <a:solidFill>
                  <a:schemeClr val="tx1"/>
                </a:solidFill>
                <a:effectLst/>
                <a:latin typeface="+mn-lt"/>
                <a:ea typeface="+mn-ea"/>
                <a:cs typeface="+mn-cs"/>
              </a:rPr>
              <a:t> file to represent the dependencies observed between all the libraries in the repository. The generated image will be saved in the 'reports' folder.</a:t>
            </a:r>
          </a:p>
          <a:p>
            <a:r>
              <a:rPr lang="en-US" sz="1200" b="0" kern="1200" dirty="0">
                <a:solidFill>
                  <a:schemeClr val="tx1"/>
                </a:solidFill>
                <a:effectLst/>
                <a:latin typeface="+mn-lt"/>
                <a:ea typeface="+mn-ea"/>
                <a:cs typeface="+mn-cs"/>
              </a:rPr>
              <a:t>6. scripts/generate_dependency_graph_for_selected_nodes.py</a:t>
            </a:r>
          </a:p>
          <a:p>
            <a:r>
              <a:rPr lang="en-US" sz="1200" b="0" kern="1200" dirty="0">
                <a:solidFill>
                  <a:schemeClr val="tx1"/>
                </a:solidFill>
                <a:effectLst/>
                <a:latin typeface="+mn-lt"/>
                <a:ea typeface="+mn-ea"/>
                <a:cs typeface="+mn-cs"/>
              </a:rPr>
              <a:t>    - This script generates a dependency graph image output for each selected node/library passed as argument to the script. Example: `python generate_dependency_graph_for_selected_nodes.py --nodes </a:t>
            </a:r>
            <a:r>
              <a:rPr lang="en-US" sz="1200" b="0" kern="1200" dirty="0" err="1">
                <a:solidFill>
                  <a:schemeClr val="tx1"/>
                </a:solidFill>
                <a:effectLst/>
                <a:latin typeface="+mn-lt"/>
                <a:ea typeface="+mn-ea"/>
                <a:cs typeface="+mn-cs"/>
              </a:rPr>
              <a:t>ModuleA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ModuleB</a:t>
            </a:r>
            <a:r>
              <a:rPr lang="en-US" sz="1200" b="0" kern="1200" dirty="0">
                <a:solidFill>
                  <a:schemeClr val="tx1"/>
                </a:solidFill>
                <a:effectLst/>
                <a:latin typeface="+mn-lt"/>
                <a:ea typeface="+mn-ea"/>
                <a:cs typeface="+mn-cs"/>
              </a:rPr>
              <a:t>`. The generated images will be saved in the 'reports' folder.</a:t>
            </a:r>
          </a:p>
          <a:p>
            <a:r>
              <a:rPr lang="en-US" sz="1200" b="0" kern="1200" dirty="0">
                <a:solidFill>
                  <a:schemeClr val="tx1"/>
                </a:solidFill>
                <a:effectLst/>
                <a:latin typeface="+mn-lt"/>
                <a:ea typeface="+mn-ea"/>
                <a:cs typeface="+mn-cs"/>
              </a:rPr>
              <a:t>7. scripts/find_root_nodes.py</a:t>
            </a:r>
          </a:p>
          <a:p>
            <a:r>
              <a:rPr lang="en-US" sz="1200" b="0" kern="1200" dirty="0">
                <a:solidFill>
                  <a:schemeClr val="tx1"/>
                </a:solidFill>
                <a:effectLst/>
                <a:latin typeface="+mn-lt"/>
                <a:ea typeface="+mn-ea"/>
                <a:cs typeface="+mn-cs"/>
              </a:rPr>
              <a:t>    - This script finds the root nodes/libraries in the </a:t>
            </a:r>
            <a:r>
              <a:rPr lang="en-US" sz="1200" b="0" kern="1200" dirty="0" err="1">
                <a:solidFill>
                  <a:schemeClr val="tx1"/>
                </a:solidFill>
                <a:effectLst/>
                <a:latin typeface="+mn-lt"/>
                <a:ea typeface="+mn-ea"/>
                <a:cs typeface="+mn-cs"/>
              </a:rPr>
              <a:t>ActualDepsList.adeps</a:t>
            </a:r>
            <a:r>
              <a:rPr lang="en-US" sz="1200" b="0" kern="1200" dirty="0">
                <a:solidFill>
                  <a:schemeClr val="tx1"/>
                </a:solidFill>
                <a:effectLst/>
                <a:latin typeface="+mn-lt"/>
                <a:ea typeface="+mn-ea"/>
                <a:cs typeface="+mn-cs"/>
              </a:rPr>
              <a:t> file and reports them in the console output. Root nodes are the libraries that do not have any other libraries depending on them.</a:t>
            </a:r>
          </a:p>
          <a:p>
            <a:r>
              <a:rPr lang="en-US" sz="1200" b="0" kern="1200" dirty="0">
                <a:solidFill>
                  <a:schemeClr val="tx1"/>
                </a:solidFill>
                <a:effectLst/>
                <a:latin typeface="+mn-lt"/>
                <a:ea typeface="+mn-ea"/>
                <a:cs typeface="+mn-cs"/>
              </a:rPr>
              <a:t>    - This is useful to find the top level libraries in the project. This is useful when performing complete rebuild of the project. If we rebulid all the root nodes along with their descendants in the graph, then all the modules will be rebuilt.</a:t>
            </a:r>
          </a:p>
          <a:p>
            <a:r>
              <a:rPr lang="en-US" sz="1200" b="0" kern="1200" dirty="0">
                <a:solidFill>
                  <a:schemeClr val="tx1"/>
                </a:solidFill>
                <a:effectLst/>
                <a:latin typeface="+mn-lt"/>
                <a:ea typeface="+mn-ea"/>
                <a:cs typeface="+mn-cs"/>
              </a:rPr>
              <a:t>    - This is useful when we want to make sure that all the modules are rebuilt after a change that affects multiple modules.</a:t>
            </a:r>
          </a:p>
          <a:p>
            <a:r>
              <a:rPr lang="en-US" sz="1200" b="0" kern="1200" dirty="0">
                <a:solidFill>
                  <a:schemeClr val="tx1"/>
                </a:solidFill>
                <a:effectLst/>
                <a:latin typeface="+mn-lt"/>
                <a:ea typeface="+mn-ea"/>
                <a:cs typeface="+mn-cs"/>
              </a:rPr>
              <a:t>8. scripts/sort_actual_deps_list.py</a:t>
            </a:r>
          </a:p>
          <a:p>
            <a:r>
              <a:rPr lang="en-US" sz="1200" b="0" kern="1200" dirty="0">
                <a:solidFill>
                  <a:schemeClr val="tx1"/>
                </a:solidFill>
                <a:effectLst/>
                <a:latin typeface="+mn-lt"/>
                <a:ea typeface="+mn-ea"/>
                <a:cs typeface="+mn-cs"/>
              </a:rPr>
              <a:t>    - This script sorts the </a:t>
            </a:r>
            <a:r>
              <a:rPr lang="en-US" sz="1200" b="0" kern="1200" dirty="0" err="1">
                <a:solidFill>
                  <a:schemeClr val="tx1"/>
                </a:solidFill>
                <a:effectLst/>
                <a:latin typeface="+mn-lt"/>
                <a:ea typeface="+mn-ea"/>
                <a:cs typeface="+mn-cs"/>
              </a:rPr>
              <a:t>ActualDepsList.adeps</a:t>
            </a:r>
            <a:r>
              <a:rPr lang="en-US" sz="1200" b="0" kern="1200" dirty="0">
                <a:solidFill>
                  <a:schemeClr val="tx1"/>
                </a:solidFill>
                <a:effectLst/>
                <a:latin typeface="+mn-lt"/>
                <a:ea typeface="+mn-ea"/>
                <a:cs typeface="+mn-cs"/>
              </a:rPr>
              <a:t> file in alphabetical order to make it easier to read and compare with the previous versions of the file in pull request reviews.</a:t>
            </a:r>
          </a:p>
          <a:p>
            <a:endParaRPr lang="en-IN" dirty="0"/>
          </a:p>
        </p:txBody>
      </p:sp>
      <p:sp>
        <p:nvSpPr>
          <p:cNvPr id="4" name="Slide Number Placeholder 3">
            <a:extLst>
              <a:ext uri="{FF2B5EF4-FFF2-40B4-BE49-F238E27FC236}">
                <a16:creationId xmlns:a16="http://schemas.microsoft.com/office/drawing/2014/main" id="{89B0A1C7-76F3-7DA7-B02C-212BF842E1FA}"/>
              </a:ext>
            </a:extLst>
          </p:cNvPr>
          <p:cNvSpPr>
            <a:spLocks noGrp="1"/>
          </p:cNvSpPr>
          <p:nvPr>
            <p:ph type="sldNum" sz="quarter" idx="5"/>
          </p:nvPr>
        </p:nvSpPr>
        <p:spPr/>
        <p:txBody>
          <a:bodyPr/>
          <a:lstStyle/>
          <a:p>
            <a:fld id="{57800552-50F2-4D62-BE3A-CFEB2CAE8D55}" type="slidenum">
              <a:rPr lang="en-IN" smtClean="0"/>
              <a:t>24</a:t>
            </a:fld>
            <a:endParaRPr lang="en-IN"/>
          </a:p>
        </p:txBody>
      </p:sp>
    </p:spTree>
    <p:extLst>
      <p:ext uri="{BB962C8B-B14F-4D97-AF65-F5344CB8AC3E}">
        <p14:creationId xmlns:p14="http://schemas.microsoft.com/office/powerpoint/2010/main" val="623264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karthickshanmugarao/sw-deps-monito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n.wikipedia.org/wiki/Software_package_metrics"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en.wikipedia.org/wiki/Software_package_metrics"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2559" y="1122363"/>
            <a:ext cx="10959484" cy="2387600"/>
          </a:xfrm>
        </p:spPr>
        <p:txBody>
          <a:bodyPr>
            <a:normAutofit/>
          </a:bodyPr>
          <a:lstStyle/>
          <a:p>
            <a:pPr>
              <a:lnSpc>
                <a:spcPct val="150000"/>
              </a:lnSpc>
            </a:pPr>
            <a:r>
              <a:rPr lang="en-US" sz="4400" dirty="0"/>
              <a:t>Maintaining Architectural Integrity </a:t>
            </a:r>
            <a:br>
              <a:rPr lang="en-US" sz="4400" dirty="0"/>
            </a:br>
            <a:r>
              <a:rPr lang="en-US" sz="4400" dirty="0"/>
              <a:t>With Automated Dependency Monitoring in CI</a:t>
            </a:r>
          </a:p>
        </p:txBody>
      </p:sp>
      <p:sp>
        <p:nvSpPr>
          <p:cNvPr id="3" name="Subtitle 2"/>
          <p:cNvSpPr>
            <a:spLocks noGrp="1"/>
          </p:cNvSpPr>
          <p:nvPr>
            <p:ph type="subTitle" idx="1"/>
          </p:nvPr>
        </p:nvSpPr>
        <p:spPr>
          <a:xfrm>
            <a:off x="1524000" y="3850620"/>
            <a:ext cx="9144000" cy="1655762"/>
          </a:xfrm>
        </p:spPr>
        <p:txBody>
          <a:bodyPr vert="horz" lIns="91440" tIns="45720" rIns="91440" bIns="45720" rtlCol="0" anchor="t">
            <a:normAutofit/>
          </a:bodyPr>
          <a:lstStyle/>
          <a:p>
            <a:r>
              <a:rPr lang="en-US" sz="2000" dirty="0"/>
              <a:t>Karthick Shanmuga Rao</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F5C42-3A30-439B-D003-7F54CAAE6B30}"/>
              </a:ext>
            </a:extLst>
          </p:cNvPr>
          <p:cNvSpPr>
            <a:spLocks noGrp="1"/>
          </p:cNvSpPr>
          <p:nvPr>
            <p:ph type="title"/>
          </p:nvPr>
        </p:nvSpPr>
        <p:spPr>
          <a:xfrm>
            <a:off x="838200" y="365125"/>
            <a:ext cx="10515600" cy="608481"/>
          </a:xfrm>
        </p:spPr>
        <p:txBody>
          <a:bodyPr>
            <a:noAutofit/>
          </a:bodyPr>
          <a:lstStyle/>
          <a:p>
            <a:r>
              <a:rPr lang="en-IN" dirty="0"/>
              <a:t>Agenda</a:t>
            </a:r>
          </a:p>
        </p:txBody>
      </p:sp>
      <p:sp>
        <p:nvSpPr>
          <p:cNvPr id="3" name="Content Placeholder 2">
            <a:extLst>
              <a:ext uri="{FF2B5EF4-FFF2-40B4-BE49-F238E27FC236}">
                <a16:creationId xmlns:a16="http://schemas.microsoft.com/office/drawing/2014/main" id="{82A3A5A5-34DD-2D68-2A7C-4CFA255198AD}"/>
              </a:ext>
            </a:extLst>
          </p:cNvPr>
          <p:cNvSpPr>
            <a:spLocks noGrp="1"/>
          </p:cNvSpPr>
          <p:nvPr>
            <p:ph idx="1"/>
          </p:nvPr>
        </p:nvSpPr>
        <p:spPr>
          <a:xfrm>
            <a:off x="838200" y="1157801"/>
            <a:ext cx="10515600" cy="5249926"/>
          </a:xfrm>
        </p:spPr>
        <p:txBody>
          <a:bodyPr>
            <a:normAutofit fontScale="47500" lnSpcReduction="20000"/>
          </a:bodyPr>
          <a:lstStyle/>
          <a:p>
            <a:pPr>
              <a:lnSpc>
                <a:spcPct val="170000"/>
              </a:lnSpc>
            </a:pPr>
            <a:r>
              <a:rPr lang="en-IN" sz="2900" dirty="0"/>
              <a:t>Problem Statement, based on real project experiences</a:t>
            </a:r>
          </a:p>
          <a:p>
            <a:pPr>
              <a:lnSpc>
                <a:spcPct val="170000"/>
              </a:lnSpc>
            </a:pPr>
            <a:r>
              <a:rPr lang="en-IN" sz="2900" dirty="0"/>
              <a:t>Solution Approach</a:t>
            </a:r>
          </a:p>
          <a:p>
            <a:pPr>
              <a:lnSpc>
                <a:spcPct val="170000"/>
              </a:lnSpc>
            </a:pPr>
            <a:r>
              <a:rPr lang="en-IN" sz="2900" dirty="0"/>
              <a:t>The Development Workflow with CI Pipeline Checks Implemented</a:t>
            </a:r>
          </a:p>
          <a:p>
            <a:pPr>
              <a:lnSpc>
                <a:spcPct val="170000"/>
              </a:lnSpc>
            </a:pPr>
            <a:r>
              <a:rPr lang="en-IN" sz="2900" dirty="0"/>
              <a:t>Demonstration</a:t>
            </a:r>
          </a:p>
          <a:p>
            <a:pPr lvl="1">
              <a:lnSpc>
                <a:spcPct val="170000"/>
              </a:lnSpc>
            </a:pPr>
            <a:r>
              <a:rPr lang="en-IN" sz="2300" dirty="0"/>
              <a:t>Example Code base for Demo</a:t>
            </a:r>
          </a:p>
          <a:p>
            <a:pPr lvl="1">
              <a:lnSpc>
                <a:spcPct val="170000"/>
              </a:lnSpc>
            </a:pPr>
            <a:r>
              <a:rPr lang="en-IN" sz="2300" dirty="0"/>
              <a:t>Setting up files in repo for dependency monitoring</a:t>
            </a:r>
          </a:p>
          <a:p>
            <a:pPr lvl="1">
              <a:lnSpc>
                <a:spcPct val="170000"/>
              </a:lnSpc>
            </a:pPr>
            <a:r>
              <a:rPr lang="en-IN" sz="2300" dirty="0"/>
              <a:t>Triggering the Checks</a:t>
            </a:r>
          </a:p>
          <a:p>
            <a:pPr>
              <a:lnSpc>
                <a:spcPct val="170000"/>
              </a:lnSpc>
            </a:pPr>
            <a:r>
              <a:rPr lang="en-IN" sz="2900" dirty="0"/>
              <a:t>Tools available in the </a:t>
            </a:r>
            <a:r>
              <a:rPr lang="en-IN" sz="2900" b="1" i="1" dirty="0"/>
              <a:t>sw-deps-monitor</a:t>
            </a:r>
            <a:r>
              <a:rPr lang="en-IN" sz="2900" dirty="0"/>
              <a:t> repo</a:t>
            </a:r>
          </a:p>
          <a:p>
            <a:pPr lvl="1">
              <a:lnSpc>
                <a:spcPct val="170000"/>
              </a:lnSpc>
            </a:pPr>
            <a:r>
              <a:rPr lang="en-IN" sz="2300" dirty="0"/>
              <a:t>List of tools used in the CI Pipeline</a:t>
            </a:r>
          </a:p>
          <a:p>
            <a:pPr lvl="1">
              <a:lnSpc>
                <a:spcPct val="170000"/>
              </a:lnSpc>
            </a:pPr>
            <a:r>
              <a:rPr lang="en-IN" sz="2300" dirty="0"/>
              <a:t>Additional tools like dependency visualization</a:t>
            </a:r>
          </a:p>
          <a:p>
            <a:pPr>
              <a:lnSpc>
                <a:spcPct val="170000"/>
              </a:lnSpc>
            </a:pPr>
            <a:r>
              <a:rPr lang="en-IN" sz="2900" dirty="0"/>
              <a:t>Introduction to Software Coupling Metrics for analysing maintainability</a:t>
            </a:r>
          </a:p>
          <a:p>
            <a:pPr lvl="1">
              <a:lnSpc>
                <a:spcPct val="170000"/>
              </a:lnSpc>
            </a:pPr>
            <a:r>
              <a:rPr lang="en-IN" sz="2300" dirty="0"/>
              <a:t>Utility to generate a coupling metrics report</a:t>
            </a:r>
          </a:p>
          <a:p>
            <a:pPr>
              <a:lnSpc>
                <a:spcPct val="170000"/>
              </a:lnSpc>
            </a:pPr>
            <a:r>
              <a:rPr lang="en-IN" sz="2900" dirty="0"/>
              <a:t>Summary</a:t>
            </a:r>
            <a:endParaRPr lang="en-IN" sz="2500" dirty="0"/>
          </a:p>
          <a:p>
            <a:pPr lvl="1"/>
            <a:endParaRPr lang="en-IN" dirty="0"/>
          </a:p>
          <a:p>
            <a:pPr lvl="1"/>
            <a:endParaRPr lang="en-IN" dirty="0"/>
          </a:p>
          <a:p>
            <a:endParaRPr lang="en-IN" dirty="0"/>
          </a:p>
          <a:p>
            <a:endParaRPr lang="en-IN" dirty="0"/>
          </a:p>
        </p:txBody>
      </p:sp>
    </p:spTree>
    <p:extLst>
      <p:ext uri="{BB962C8B-B14F-4D97-AF65-F5344CB8AC3E}">
        <p14:creationId xmlns:p14="http://schemas.microsoft.com/office/powerpoint/2010/main" val="360863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DF29D-6B63-1422-2597-806A7A6D01BA}"/>
              </a:ext>
            </a:extLst>
          </p:cNvPr>
          <p:cNvSpPr>
            <a:spLocks noGrp="1"/>
          </p:cNvSpPr>
          <p:nvPr>
            <p:ph type="title"/>
          </p:nvPr>
        </p:nvSpPr>
        <p:spPr>
          <a:xfrm>
            <a:off x="838200" y="192601"/>
            <a:ext cx="10515600" cy="976872"/>
          </a:xfrm>
        </p:spPr>
        <p:txBody>
          <a:bodyPr/>
          <a:lstStyle/>
          <a:p>
            <a:r>
              <a:rPr lang="en-US" dirty="0"/>
              <a:t>Problem Statement</a:t>
            </a:r>
          </a:p>
        </p:txBody>
      </p:sp>
      <p:sp>
        <p:nvSpPr>
          <p:cNvPr id="3" name="Content Placeholder 2">
            <a:extLst>
              <a:ext uri="{FF2B5EF4-FFF2-40B4-BE49-F238E27FC236}">
                <a16:creationId xmlns:a16="http://schemas.microsoft.com/office/drawing/2014/main" id="{710D3E08-DE4D-2A26-1A84-3735325E9928}"/>
              </a:ext>
            </a:extLst>
          </p:cNvPr>
          <p:cNvSpPr>
            <a:spLocks noGrp="1"/>
          </p:cNvSpPr>
          <p:nvPr>
            <p:ph idx="1"/>
          </p:nvPr>
        </p:nvSpPr>
        <p:spPr>
          <a:xfrm>
            <a:off x="838200" y="1381468"/>
            <a:ext cx="10515600" cy="4795495"/>
          </a:xfrm>
        </p:spPr>
        <p:txBody>
          <a:bodyPr vert="horz" lIns="91440" tIns="45720" rIns="91440" bIns="45720" rtlCol="0" anchor="t">
            <a:normAutofit fontScale="77500" lnSpcReduction="20000"/>
          </a:bodyPr>
          <a:lstStyle/>
          <a:p>
            <a:pPr>
              <a:lnSpc>
                <a:spcPct val="160000"/>
              </a:lnSpc>
            </a:pPr>
            <a:r>
              <a:rPr lang="en-US" dirty="0"/>
              <a:t>In large scale projects, the architects and technical leads define software architecture with number of software components / layers for different purposes, then multiple developers contribute to the development. </a:t>
            </a:r>
          </a:p>
          <a:p>
            <a:pPr>
              <a:lnSpc>
                <a:spcPct val="160000"/>
              </a:lnSpc>
            </a:pPr>
            <a:r>
              <a:rPr lang="en-US" dirty="0"/>
              <a:t>During the development with large team, there are high possibilities of creating unwanted dependencies between the libraries that violate the separation of concerns defined by the Architecture definition.</a:t>
            </a:r>
          </a:p>
          <a:p>
            <a:pPr>
              <a:lnSpc>
                <a:spcPct val="160000"/>
              </a:lnSpc>
            </a:pPr>
            <a:r>
              <a:rPr lang="en-US" dirty="0"/>
              <a:t>Overtime, these unwanted dependencies get accumulated leading to a situation where every library call each other resulting in an unstructured, tangled codebase (also known as "Big Ball of Mud" architecture anti-pattern)</a:t>
            </a:r>
          </a:p>
        </p:txBody>
      </p:sp>
    </p:spTree>
    <p:extLst>
      <p:ext uri="{BB962C8B-B14F-4D97-AF65-F5344CB8AC3E}">
        <p14:creationId xmlns:p14="http://schemas.microsoft.com/office/powerpoint/2010/main" val="102226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7FE41E-BF7A-D361-51EE-CE0B1A1707A8}"/>
              </a:ext>
            </a:extLst>
          </p:cNvPr>
          <p:cNvSpPr/>
          <p:nvPr/>
        </p:nvSpPr>
        <p:spPr>
          <a:xfrm>
            <a:off x="408938" y="233822"/>
            <a:ext cx="5216140" cy="4765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Without Dependency Monitoring</a:t>
            </a:r>
          </a:p>
        </p:txBody>
      </p:sp>
      <p:sp>
        <p:nvSpPr>
          <p:cNvPr id="8" name="Rectangle 7">
            <a:extLst>
              <a:ext uri="{FF2B5EF4-FFF2-40B4-BE49-F238E27FC236}">
                <a16:creationId xmlns:a16="http://schemas.microsoft.com/office/drawing/2014/main" id="{DDFF747D-D8DD-318A-45F4-455B49DFA025}"/>
              </a:ext>
            </a:extLst>
          </p:cNvPr>
          <p:cNvSpPr/>
          <p:nvPr/>
        </p:nvSpPr>
        <p:spPr>
          <a:xfrm>
            <a:off x="408938" y="3717500"/>
            <a:ext cx="5216140" cy="28348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200" dirty="0"/>
              <a:t>❌ Developers may introduce dependencies violating architecture defined.</a:t>
            </a:r>
          </a:p>
          <a:p>
            <a:pPr>
              <a:lnSpc>
                <a:spcPct val="150000"/>
              </a:lnSpc>
            </a:pPr>
            <a:r>
              <a:rPr lang="en-US" sz="1200" dirty="0"/>
              <a:t>❌ Dependency issues affects code reusability. (When you want to reuse a library in another project, you might have to copy all the dependencies)</a:t>
            </a:r>
          </a:p>
          <a:p>
            <a:pPr>
              <a:lnSpc>
                <a:spcPct val="150000"/>
              </a:lnSpc>
            </a:pPr>
            <a:r>
              <a:rPr lang="en-US" sz="1200" dirty="0"/>
              <a:t>❌ Not possible to make modular binaries and modular deployment (Circular dependencies hinder modular packed project library builds)</a:t>
            </a:r>
          </a:p>
          <a:p>
            <a:pPr>
              <a:lnSpc>
                <a:spcPct val="150000"/>
              </a:lnSpc>
            </a:pPr>
            <a:r>
              <a:rPr lang="en-US" sz="1200" dirty="0"/>
              <a:t>❌ Modules cannot be isolated and tested.</a:t>
            </a:r>
          </a:p>
          <a:p>
            <a:pPr>
              <a:lnSpc>
                <a:spcPct val="150000"/>
              </a:lnSpc>
            </a:pPr>
            <a:r>
              <a:rPr lang="en-US" sz="1200" dirty="0"/>
              <a:t>❌ LabVIEW project files load slower since many unnecessary dependencies may load into memory when you want to edit a specific project. (Example: When you open Project B, all the libraries are loaded into memory)</a:t>
            </a:r>
          </a:p>
          <a:p>
            <a:r>
              <a:rPr lang="en-US" sz="1200" dirty="0"/>
              <a:t> </a:t>
            </a:r>
          </a:p>
        </p:txBody>
      </p:sp>
      <p:grpSp>
        <p:nvGrpSpPr>
          <p:cNvPr id="9" name="Group 8">
            <a:extLst>
              <a:ext uri="{FF2B5EF4-FFF2-40B4-BE49-F238E27FC236}">
                <a16:creationId xmlns:a16="http://schemas.microsoft.com/office/drawing/2014/main" id="{9E1E29E9-2780-EC34-0872-B00E6300E8B4}"/>
              </a:ext>
            </a:extLst>
          </p:cNvPr>
          <p:cNvGrpSpPr/>
          <p:nvPr/>
        </p:nvGrpSpPr>
        <p:grpSpPr>
          <a:xfrm>
            <a:off x="872830" y="1099933"/>
            <a:ext cx="3656915" cy="2327935"/>
            <a:chOff x="872830" y="1099933"/>
            <a:chExt cx="3656915" cy="2327935"/>
          </a:xfrm>
        </p:grpSpPr>
        <p:sp>
          <p:nvSpPr>
            <p:cNvPr id="5" name="Rectangle 4">
              <a:extLst>
                <a:ext uri="{FF2B5EF4-FFF2-40B4-BE49-F238E27FC236}">
                  <a16:creationId xmlns:a16="http://schemas.microsoft.com/office/drawing/2014/main" id="{57B3C251-C78B-48F4-5745-992295AC461E}"/>
                </a:ext>
              </a:extLst>
            </p:cNvPr>
            <p:cNvSpPr/>
            <p:nvPr/>
          </p:nvSpPr>
          <p:spPr>
            <a:xfrm>
              <a:off x="1989554" y="1099933"/>
              <a:ext cx="643551"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a:t>
              </a:r>
            </a:p>
          </p:txBody>
        </p:sp>
        <p:sp>
          <p:nvSpPr>
            <p:cNvPr id="6" name="Rectangle 5">
              <a:extLst>
                <a:ext uri="{FF2B5EF4-FFF2-40B4-BE49-F238E27FC236}">
                  <a16:creationId xmlns:a16="http://schemas.microsoft.com/office/drawing/2014/main" id="{5309D36E-401F-8BF4-C1CE-153AF4305D72}"/>
                </a:ext>
              </a:extLst>
            </p:cNvPr>
            <p:cNvSpPr/>
            <p:nvPr/>
          </p:nvSpPr>
          <p:spPr>
            <a:xfrm>
              <a:off x="872830" y="2015209"/>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B</a:t>
              </a:r>
            </a:p>
          </p:txBody>
        </p:sp>
        <p:cxnSp>
          <p:nvCxnSpPr>
            <p:cNvPr id="7" name="Straight Arrow Connector 6">
              <a:extLst>
                <a:ext uri="{FF2B5EF4-FFF2-40B4-BE49-F238E27FC236}">
                  <a16:creationId xmlns:a16="http://schemas.microsoft.com/office/drawing/2014/main" id="{83111CE7-F62F-FB21-3D95-A586B266350D}"/>
                </a:ext>
              </a:extLst>
            </p:cNvPr>
            <p:cNvCxnSpPr>
              <a:cxnSpLocks/>
              <a:stCxn id="6" idx="2"/>
              <a:endCxn id="10" idx="0"/>
            </p:cNvCxnSpPr>
            <p:nvPr/>
          </p:nvCxnSpPr>
          <p:spPr>
            <a:xfrm>
              <a:off x="1194606" y="2464420"/>
              <a:ext cx="0" cy="5142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891440B8-9296-8436-AEB6-253C6C6AA0DE}"/>
                </a:ext>
              </a:extLst>
            </p:cNvPr>
            <p:cNvSpPr/>
            <p:nvPr/>
          </p:nvSpPr>
          <p:spPr>
            <a:xfrm>
              <a:off x="872830" y="2978657"/>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D</a:t>
              </a:r>
            </a:p>
          </p:txBody>
        </p:sp>
        <p:sp>
          <p:nvSpPr>
            <p:cNvPr id="11" name="Rectangle 10">
              <a:extLst>
                <a:ext uri="{FF2B5EF4-FFF2-40B4-BE49-F238E27FC236}">
                  <a16:creationId xmlns:a16="http://schemas.microsoft.com/office/drawing/2014/main" id="{FE382727-E042-3063-F087-579A24A194DF}"/>
                </a:ext>
              </a:extLst>
            </p:cNvPr>
            <p:cNvSpPr/>
            <p:nvPr/>
          </p:nvSpPr>
          <p:spPr>
            <a:xfrm>
              <a:off x="3018692" y="2015208"/>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C</a:t>
              </a:r>
              <a:endParaRPr lang="en-US"/>
            </a:p>
          </p:txBody>
        </p:sp>
        <p:cxnSp>
          <p:nvCxnSpPr>
            <p:cNvPr id="12" name="Straight Arrow Connector 11">
              <a:extLst>
                <a:ext uri="{FF2B5EF4-FFF2-40B4-BE49-F238E27FC236}">
                  <a16:creationId xmlns:a16="http://schemas.microsoft.com/office/drawing/2014/main" id="{A8324CFC-9146-4475-F2CF-117446D5C7DC}"/>
                </a:ext>
              </a:extLst>
            </p:cNvPr>
            <p:cNvCxnSpPr>
              <a:cxnSpLocks/>
              <a:stCxn id="5" idx="2"/>
              <a:endCxn id="6" idx="0"/>
            </p:cNvCxnSpPr>
            <p:nvPr/>
          </p:nvCxnSpPr>
          <p:spPr>
            <a:xfrm flipH="1">
              <a:off x="1194606" y="1540385"/>
              <a:ext cx="1116724" cy="474824"/>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4676CF9-82AD-2F86-B697-044D909C4423}"/>
                </a:ext>
              </a:extLst>
            </p:cNvPr>
            <p:cNvCxnSpPr>
              <a:cxnSpLocks/>
              <a:stCxn id="11" idx="2"/>
              <a:endCxn id="10" idx="0"/>
            </p:cNvCxnSpPr>
            <p:nvPr/>
          </p:nvCxnSpPr>
          <p:spPr>
            <a:xfrm flipH="1">
              <a:off x="1194606" y="2464419"/>
              <a:ext cx="2145862" cy="5142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481EBB7-7AE2-2B6C-19C7-79B0A504EA6D}"/>
                </a:ext>
              </a:extLst>
            </p:cNvPr>
            <p:cNvCxnSpPr>
              <a:cxnSpLocks/>
              <a:stCxn id="5" idx="2"/>
              <a:endCxn id="11" idx="0"/>
            </p:cNvCxnSpPr>
            <p:nvPr/>
          </p:nvCxnSpPr>
          <p:spPr>
            <a:xfrm>
              <a:off x="2311330" y="1540385"/>
              <a:ext cx="1029138" cy="474823"/>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CBD7245C-DD7F-A68A-A23E-FC20E61E4E38}"/>
                </a:ext>
              </a:extLst>
            </p:cNvPr>
            <p:cNvSpPr/>
            <p:nvPr/>
          </p:nvSpPr>
          <p:spPr>
            <a:xfrm>
              <a:off x="2182348" y="2978656"/>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tx1"/>
                  </a:solidFill>
                </a:rPr>
                <a:t>E</a:t>
              </a:r>
              <a:endParaRPr lang="en-US" dirty="0"/>
            </a:p>
          </p:txBody>
        </p:sp>
        <p:sp>
          <p:nvSpPr>
            <p:cNvPr id="20" name="Rectangle 19">
              <a:extLst>
                <a:ext uri="{FF2B5EF4-FFF2-40B4-BE49-F238E27FC236}">
                  <a16:creationId xmlns:a16="http://schemas.microsoft.com/office/drawing/2014/main" id="{F5D1063C-FACF-53ED-BD4B-B0B6492FEAA6}"/>
                </a:ext>
              </a:extLst>
            </p:cNvPr>
            <p:cNvSpPr/>
            <p:nvPr/>
          </p:nvSpPr>
          <p:spPr>
            <a:xfrm>
              <a:off x="3886194" y="2978656"/>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tx1"/>
                  </a:solidFill>
                </a:rPr>
                <a:t>F</a:t>
              </a:r>
              <a:endParaRPr lang="en-US" dirty="0"/>
            </a:p>
          </p:txBody>
        </p:sp>
        <p:cxnSp>
          <p:nvCxnSpPr>
            <p:cNvPr id="21" name="Straight Arrow Connector 20">
              <a:extLst>
                <a:ext uri="{FF2B5EF4-FFF2-40B4-BE49-F238E27FC236}">
                  <a16:creationId xmlns:a16="http://schemas.microsoft.com/office/drawing/2014/main" id="{E6C5645F-0715-491D-049A-A868E55ADDAC}"/>
                </a:ext>
              </a:extLst>
            </p:cNvPr>
            <p:cNvCxnSpPr>
              <a:cxnSpLocks/>
              <a:stCxn id="11" idx="2"/>
              <a:endCxn id="20" idx="0"/>
            </p:cNvCxnSpPr>
            <p:nvPr/>
          </p:nvCxnSpPr>
          <p:spPr>
            <a:xfrm>
              <a:off x="3340468" y="2464419"/>
              <a:ext cx="867502" cy="5142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398E921-ABE4-3D31-94EC-4FA49756E31F}"/>
                </a:ext>
              </a:extLst>
            </p:cNvPr>
            <p:cNvCxnSpPr>
              <a:cxnSpLocks/>
              <a:stCxn id="11" idx="2"/>
              <a:endCxn id="19" idx="0"/>
            </p:cNvCxnSpPr>
            <p:nvPr/>
          </p:nvCxnSpPr>
          <p:spPr>
            <a:xfrm flipH="1">
              <a:off x="2504124" y="2464419"/>
              <a:ext cx="836344" cy="5142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1016D650-15EE-7937-68E2-2593B22F007A}"/>
              </a:ext>
            </a:extLst>
          </p:cNvPr>
          <p:cNvGrpSpPr/>
          <p:nvPr/>
        </p:nvGrpSpPr>
        <p:grpSpPr>
          <a:xfrm>
            <a:off x="1516381" y="2239814"/>
            <a:ext cx="2369813" cy="963449"/>
            <a:chOff x="1516381" y="2239814"/>
            <a:chExt cx="2369813" cy="963449"/>
          </a:xfrm>
        </p:grpSpPr>
        <p:cxnSp>
          <p:nvCxnSpPr>
            <p:cNvPr id="31" name="Straight Arrow Connector 30">
              <a:extLst>
                <a:ext uri="{FF2B5EF4-FFF2-40B4-BE49-F238E27FC236}">
                  <a16:creationId xmlns:a16="http://schemas.microsoft.com/office/drawing/2014/main" id="{51EA89E4-A7B3-24BF-FE35-72F24938C9C9}"/>
                </a:ext>
              </a:extLst>
            </p:cNvPr>
            <p:cNvCxnSpPr>
              <a:cxnSpLocks/>
              <a:stCxn id="6" idx="3"/>
              <a:endCxn id="11" idx="1"/>
            </p:cNvCxnSpPr>
            <p:nvPr/>
          </p:nvCxnSpPr>
          <p:spPr>
            <a:xfrm flipV="1">
              <a:off x="1516381" y="2239814"/>
              <a:ext cx="1502311" cy="1"/>
            </a:xfrm>
            <a:prstGeom prst="straightConnector1">
              <a:avLst/>
            </a:prstGeom>
            <a:ln>
              <a:solidFill>
                <a:srgbClr val="C0000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248A406-760F-4C9B-CCF1-15F6AA561620}"/>
                </a:ext>
              </a:extLst>
            </p:cNvPr>
            <p:cNvCxnSpPr>
              <a:cxnSpLocks/>
              <a:stCxn id="6" idx="3"/>
              <a:endCxn id="19" idx="0"/>
            </p:cNvCxnSpPr>
            <p:nvPr/>
          </p:nvCxnSpPr>
          <p:spPr>
            <a:xfrm>
              <a:off x="1516381" y="2239815"/>
              <a:ext cx="987743" cy="738841"/>
            </a:xfrm>
            <a:prstGeom prst="straightConnector1">
              <a:avLst/>
            </a:prstGeom>
            <a:ln>
              <a:solidFill>
                <a:srgbClr val="C0000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79C03EC2-0C36-527A-8DEB-3CCF60181A42}"/>
                </a:ext>
              </a:extLst>
            </p:cNvPr>
            <p:cNvCxnSpPr>
              <a:cxnSpLocks/>
              <a:stCxn id="19" idx="3"/>
              <a:endCxn id="20" idx="1"/>
            </p:cNvCxnSpPr>
            <p:nvPr/>
          </p:nvCxnSpPr>
          <p:spPr>
            <a:xfrm>
              <a:off x="2825899" y="3203262"/>
              <a:ext cx="1060295" cy="0"/>
            </a:xfrm>
            <a:prstGeom prst="straightConnector1">
              <a:avLst/>
            </a:prstGeom>
            <a:ln>
              <a:solidFill>
                <a:srgbClr val="C0000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11ABF0BB-CD35-3436-BAD4-A3906C64D62C}"/>
                </a:ext>
              </a:extLst>
            </p:cNvPr>
            <p:cNvCxnSpPr>
              <a:cxnSpLocks/>
              <a:stCxn id="10" idx="3"/>
              <a:endCxn id="11" idx="1"/>
            </p:cNvCxnSpPr>
            <p:nvPr/>
          </p:nvCxnSpPr>
          <p:spPr>
            <a:xfrm flipV="1">
              <a:off x="1516381" y="2239814"/>
              <a:ext cx="1502311" cy="963449"/>
            </a:xfrm>
            <a:prstGeom prst="straightConnector1">
              <a:avLst/>
            </a:prstGeom>
            <a:ln>
              <a:solidFill>
                <a:srgbClr val="C00000"/>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080D8B7-775C-A56E-F16F-0779724CA546}"/>
                </a:ext>
              </a:extLst>
            </p:cNvPr>
            <p:cNvCxnSpPr>
              <a:cxnSpLocks/>
              <a:stCxn id="10" idx="3"/>
              <a:endCxn id="19" idx="1"/>
            </p:cNvCxnSpPr>
            <p:nvPr/>
          </p:nvCxnSpPr>
          <p:spPr>
            <a:xfrm flipV="1">
              <a:off x="1516381" y="3203262"/>
              <a:ext cx="665967" cy="1"/>
            </a:xfrm>
            <a:prstGeom prst="straightConnector1">
              <a:avLst/>
            </a:prstGeom>
            <a:ln>
              <a:solidFill>
                <a:srgbClr val="C00000"/>
              </a:solidFill>
              <a:prstDash val="solid"/>
              <a:tailEnd type="triangle"/>
            </a:ln>
          </p:spPr>
          <p:style>
            <a:lnRef idx="2">
              <a:schemeClr val="accent1"/>
            </a:lnRef>
            <a:fillRef idx="0">
              <a:schemeClr val="accent1"/>
            </a:fillRef>
            <a:effectRef idx="1">
              <a:schemeClr val="accent1"/>
            </a:effectRef>
            <a:fontRef idx="minor">
              <a:schemeClr val="tx1"/>
            </a:fontRef>
          </p:style>
        </p:cxnSp>
      </p:grpSp>
      <p:sp>
        <p:nvSpPr>
          <p:cNvPr id="49" name="Rectangle 48">
            <a:extLst>
              <a:ext uri="{FF2B5EF4-FFF2-40B4-BE49-F238E27FC236}">
                <a16:creationId xmlns:a16="http://schemas.microsoft.com/office/drawing/2014/main" id="{76C5AFF3-7F84-65BA-D088-662BBB161BB1}"/>
              </a:ext>
            </a:extLst>
          </p:cNvPr>
          <p:cNvSpPr/>
          <p:nvPr/>
        </p:nvSpPr>
        <p:spPr>
          <a:xfrm>
            <a:off x="6475246" y="236293"/>
            <a:ext cx="5447812" cy="4765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With Automated Dependency Monitoring</a:t>
            </a:r>
          </a:p>
        </p:txBody>
      </p:sp>
      <p:grpSp>
        <p:nvGrpSpPr>
          <p:cNvPr id="3" name="Group 2">
            <a:extLst>
              <a:ext uri="{FF2B5EF4-FFF2-40B4-BE49-F238E27FC236}">
                <a16:creationId xmlns:a16="http://schemas.microsoft.com/office/drawing/2014/main" id="{1060CDBD-3DD7-55F5-0FAB-701FB6B28EE1}"/>
              </a:ext>
            </a:extLst>
          </p:cNvPr>
          <p:cNvGrpSpPr/>
          <p:nvPr/>
        </p:nvGrpSpPr>
        <p:grpSpPr>
          <a:xfrm>
            <a:off x="6937454" y="1099933"/>
            <a:ext cx="3656915" cy="2327935"/>
            <a:chOff x="6937454" y="1099933"/>
            <a:chExt cx="3656915" cy="2327935"/>
          </a:xfrm>
        </p:grpSpPr>
        <p:sp>
          <p:nvSpPr>
            <p:cNvPr id="50" name="Rectangle 49">
              <a:extLst>
                <a:ext uri="{FF2B5EF4-FFF2-40B4-BE49-F238E27FC236}">
                  <a16:creationId xmlns:a16="http://schemas.microsoft.com/office/drawing/2014/main" id="{835C95AD-E4E1-AFEB-0C56-7E603B8E41B2}"/>
                </a:ext>
              </a:extLst>
            </p:cNvPr>
            <p:cNvSpPr/>
            <p:nvPr/>
          </p:nvSpPr>
          <p:spPr>
            <a:xfrm>
              <a:off x="8054178" y="1099933"/>
              <a:ext cx="643551"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a:t>
              </a:r>
            </a:p>
          </p:txBody>
        </p:sp>
        <p:sp>
          <p:nvSpPr>
            <p:cNvPr id="51" name="Rectangle 50">
              <a:extLst>
                <a:ext uri="{FF2B5EF4-FFF2-40B4-BE49-F238E27FC236}">
                  <a16:creationId xmlns:a16="http://schemas.microsoft.com/office/drawing/2014/main" id="{6C093342-10CF-B82D-3776-FB0FF31FB20E}"/>
                </a:ext>
              </a:extLst>
            </p:cNvPr>
            <p:cNvSpPr/>
            <p:nvPr/>
          </p:nvSpPr>
          <p:spPr>
            <a:xfrm>
              <a:off x="6937454" y="2015209"/>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B</a:t>
              </a:r>
            </a:p>
          </p:txBody>
        </p:sp>
        <p:cxnSp>
          <p:nvCxnSpPr>
            <p:cNvPr id="52" name="Straight Arrow Connector 51">
              <a:extLst>
                <a:ext uri="{FF2B5EF4-FFF2-40B4-BE49-F238E27FC236}">
                  <a16:creationId xmlns:a16="http://schemas.microsoft.com/office/drawing/2014/main" id="{EFA23CEB-EA8A-4AD6-4162-A3162215FB49}"/>
                </a:ext>
              </a:extLst>
            </p:cNvPr>
            <p:cNvCxnSpPr>
              <a:cxnSpLocks/>
              <a:stCxn id="51" idx="2"/>
              <a:endCxn id="53" idx="0"/>
            </p:cNvCxnSpPr>
            <p:nvPr/>
          </p:nvCxnSpPr>
          <p:spPr>
            <a:xfrm>
              <a:off x="7259230" y="2464420"/>
              <a:ext cx="0" cy="5142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DC3F73AD-FD1F-9A97-17ED-70B2A78E2329}"/>
                </a:ext>
              </a:extLst>
            </p:cNvPr>
            <p:cNvSpPr/>
            <p:nvPr/>
          </p:nvSpPr>
          <p:spPr>
            <a:xfrm>
              <a:off x="6937454" y="2978657"/>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D</a:t>
              </a:r>
            </a:p>
          </p:txBody>
        </p:sp>
        <p:sp>
          <p:nvSpPr>
            <p:cNvPr id="54" name="Rectangle 53">
              <a:extLst>
                <a:ext uri="{FF2B5EF4-FFF2-40B4-BE49-F238E27FC236}">
                  <a16:creationId xmlns:a16="http://schemas.microsoft.com/office/drawing/2014/main" id="{46858338-7301-9EDF-1C35-98D7A37AF3B8}"/>
                </a:ext>
              </a:extLst>
            </p:cNvPr>
            <p:cNvSpPr/>
            <p:nvPr/>
          </p:nvSpPr>
          <p:spPr>
            <a:xfrm>
              <a:off x="9083316" y="2015208"/>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C</a:t>
              </a:r>
              <a:endParaRPr lang="en-US"/>
            </a:p>
          </p:txBody>
        </p:sp>
        <p:cxnSp>
          <p:nvCxnSpPr>
            <p:cNvPr id="55" name="Straight Arrow Connector 54">
              <a:extLst>
                <a:ext uri="{FF2B5EF4-FFF2-40B4-BE49-F238E27FC236}">
                  <a16:creationId xmlns:a16="http://schemas.microsoft.com/office/drawing/2014/main" id="{161D7408-74FB-AC4B-EB04-1587ECCAFD7A}"/>
                </a:ext>
              </a:extLst>
            </p:cNvPr>
            <p:cNvCxnSpPr>
              <a:cxnSpLocks/>
              <a:stCxn id="50" idx="2"/>
              <a:endCxn id="51" idx="0"/>
            </p:cNvCxnSpPr>
            <p:nvPr/>
          </p:nvCxnSpPr>
          <p:spPr>
            <a:xfrm flipH="1">
              <a:off x="7259230" y="1540385"/>
              <a:ext cx="1116724" cy="474824"/>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16D6BEDF-4DC2-4035-A526-AB7F6C6C5316}"/>
                </a:ext>
              </a:extLst>
            </p:cNvPr>
            <p:cNvCxnSpPr>
              <a:cxnSpLocks/>
              <a:stCxn id="54" idx="2"/>
              <a:endCxn id="53" idx="0"/>
            </p:cNvCxnSpPr>
            <p:nvPr/>
          </p:nvCxnSpPr>
          <p:spPr>
            <a:xfrm flipH="1">
              <a:off x="7259230" y="2464419"/>
              <a:ext cx="2145862" cy="5142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B1D58779-A308-9DF1-0599-E9A435C10C72}"/>
                </a:ext>
              </a:extLst>
            </p:cNvPr>
            <p:cNvCxnSpPr>
              <a:cxnSpLocks/>
              <a:stCxn id="50" idx="2"/>
              <a:endCxn id="54" idx="0"/>
            </p:cNvCxnSpPr>
            <p:nvPr/>
          </p:nvCxnSpPr>
          <p:spPr>
            <a:xfrm>
              <a:off x="8375954" y="1540385"/>
              <a:ext cx="1029138" cy="474823"/>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066177A7-7EA3-4A73-5C7C-6EC02A002191}"/>
                </a:ext>
              </a:extLst>
            </p:cNvPr>
            <p:cNvSpPr/>
            <p:nvPr/>
          </p:nvSpPr>
          <p:spPr>
            <a:xfrm>
              <a:off x="8246972" y="2978656"/>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tx1"/>
                  </a:solidFill>
                </a:rPr>
                <a:t>E</a:t>
              </a:r>
              <a:endParaRPr lang="en-US" dirty="0"/>
            </a:p>
          </p:txBody>
        </p:sp>
        <p:sp>
          <p:nvSpPr>
            <p:cNvPr id="59" name="Rectangle 58">
              <a:extLst>
                <a:ext uri="{FF2B5EF4-FFF2-40B4-BE49-F238E27FC236}">
                  <a16:creationId xmlns:a16="http://schemas.microsoft.com/office/drawing/2014/main" id="{69D16CB7-FA96-939D-390D-CD716FB7BACF}"/>
                </a:ext>
              </a:extLst>
            </p:cNvPr>
            <p:cNvSpPr/>
            <p:nvPr/>
          </p:nvSpPr>
          <p:spPr>
            <a:xfrm>
              <a:off x="9950818" y="2978656"/>
              <a:ext cx="643551" cy="449211"/>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tx1"/>
                  </a:solidFill>
                </a:rPr>
                <a:t>F</a:t>
              </a:r>
              <a:endParaRPr lang="en-US" dirty="0"/>
            </a:p>
          </p:txBody>
        </p:sp>
        <p:cxnSp>
          <p:nvCxnSpPr>
            <p:cNvPr id="60" name="Straight Arrow Connector 59">
              <a:extLst>
                <a:ext uri="{FF2B5EF4-FFF2-40B4-BE49-F238E27FC236}">
                  <a16:creationId xmlns:a16="http://schemas.microsoft.com/office/drawing/2014/main" id="{CDED8F9B-7C5D-1A55-F0E0-384F773C96E7}"/>
                </a:ext>
              </a:extLst>
            </p:cNvPr>
            <p:cNvCxnSpPr>
              <a:cxnSpLocks/>
              <a:stCxn id="54" idx="2"/>
              <a:endCxn id="59" idx="0"/>
            </p:cNvCxnSpPr>
            <p:nvPr/>
          </p:nvCxnSpPr>
          <p:spPr>
            <a:xfrm>
              <a:off x="9405092" y="2464419"/>
              <a:ext cx="867502" cy="5142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243871A7-5031-9448-A16E-B83675805728}"/>
                </a:ext>
              </a:extLst>
            </p:cNvPr>
            <p:cNvCxnSpPr>
              <a:cxnSpLocks/>
              <a:stCxn id="54" idx="2"/>
              <a:endCxn id="58" idx="0"/>
            </p:cNvCxnSpPr>
            <p:nvPr/>
          </p:nvCxnSpPr>
          <p:spPr>
            <a:xfrm flipH="1">
              <a:off x="8568748" y="2464419"/>
              <a:ext cx="836344" cy="5142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67" name="Rectangle 66">
            <a:extLst>
              <a:ext uri="{FF2B5EF4-FFF2-40B4-BE49-F238E27FC236}">
                <a16:creationId xmlns:a16="http://schemas.microsoft.com/office/drawing/2014/main" id="{4C1D44B3-A241-55E3-447A-4A01F834CBC7}"/>
              </a:ext>
            </a:extLst>
          </p:cNvPr>
          <p:cNvSpPr/>
          <p:nvPr/>
        </p:nvSpPr>
        <p:spPr>
          <a:xfrm>
            <a:off x="6475245" y="3717499"/>
            <a:ext cx="5447813" cy="28348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200" dirty="0"/>
              <a:t>✅ Developers cannot introduce wrong code dependencies, they adhere to defined Design and expected dependencies (defined by Leads)</a:t>
            </a:r>
          </a:p>
          <a:p>
            <a:pPr>
              <a:lnSpc>
                <a:spcPct val="150000"/>
              </a:lnSpc>
            </a:pPr>
            <a:r>
              <a:rPr lang="en-US" sz="1200" dirty="0"/>
              <a:t>✅ Modules remain modular and reusable over time. (When you want to reuse a library in another project, you copy only required code)</a:t>
            </a:r>
          </a:p>
          <a:p>
            <a:pPr>
              <a:lnSpc>
                <a:spcPct val="150000"/>
              </a:lnSpc>
            </a:pPr>
            <a:r>
              <a:rPr lang="en-US" sz="1200" dirty="0"/>
              <a:t>✅ Modules are clearly separated and modular builds, modular deployment are possible.</a:t>
            </a:r>
          </a:p>
          <a:p>
            <a:pPr>
              <a:lnSpc>
                <a:spcPct val="150000"/>
              </a:lnSpc>
            </a:pPr>
            <a:r>
              <a:rPr lang="en-US" sz="1200" dirty="0"/>
              <a:t>✅  Modules can be isolated and tested. Improves Testability and Debuggability.</a:t>
            </a:r>
          </a:p>
          <a:p>
            <a:pPr>
              <a:lnSpc>
                <a:spcPct val="150000"/>
              </a:lnSpc>
            </a:pPr>
            <a:r>
              <a:rPr lang="en-US" sz="1200" dirty="0"/>
              <a:t>✅ Modules load faster into memory during the development.</a:t>
            </a:r>
          </a:p>
          <a:p>
            <a:pPr>
              <a:lnSpc>
                <a:spcPct val="150000"/>
              </a:lnSpc>
            </a:pPr>
            <a:r>
              <a:rPr lang="en-US" sz="1200" dirty="0"/>
              <a:t>(Example: When you open project B for editing, only required libraries B and D are loaded into memory)</a:t>
            </a:r>
          </a:p>
        </p:txBody>
      </p:sp>
    </p:spTree>
    <p:extLst>
      <p:ext uri="{BB962C8B-B14F-4D97-AF65-F5344CB8AC3E}">
        <p14:creationId xmlns:p14="http://schemas.microsoft.com/office/powerpoint/2010/main" val="418132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7">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7">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49" grpId="0" animBg="1"/>
      <p:bldP spid="6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1909-829E-5D05-5C31-42EF4E980017}"/>
              </a:ext>
            </a:extLst>
          </p:cNvPr>
          <p:cNvSpPr>
            <a:spLocks noGrp="1"/>
          </p:cNvSpPr>
          <p:nvPr>
            <p:ph type="title"/>
          </p:nvPr>
        </p:nvSpPr>
        <p:spPr>
          <a:xfrm>
            <a:off x="838200" y="301145"/>
            <a:ext cx="10515600" cy="759784"/>
          </a:xfrm>
        </p:spPr>
        <p:txBody>
          <a:bodyPr/>
          <a:lstStyle/>
          <a:p>
            <a:r>
              <a:rPr lang="en-US" dirty="0"/>
              <a:t>Solution Approach</a:t>
            </a:r>
            <a:endParaRPr lang="en-IN" dirty="0"/>
          </a:p>
        </p:txBody>
      </p:sp>
      <p:sp>
        <p:nvSpPr>
          <p:cNvPr id="3" name="Content Placeholder 2">
            <a:extLst>
              <a:ext uri="{FF2B5EF4-FFF2-40B4-BE49-F238E27FC236}">
                <a16:creationId xmlns:a16="http://schemas.microsoft.com/office/drawing/2014/main" id="{F1F219C2-C529-750D-279A-1BAC16EB51E6}"/>
              </a:ext>
            </a:extLst>
          </p:cNvPr>
          <p:cNvSpPr>
            <a:spLocks noGrp="1"/>
          </p:cNvSpPr>
          <p:nvPr>
            <p:ph idx="1"/>
          </p:nvPr>
        </p:nvSpPr>
        <p:spPr>
          <a:xfrm>
            <a:off x="838200" y="1341997"/>
            <a:ext cx="10515600" cy="4834966"/>
          </a:xfrm>
        </p:spPr>
        <p:txBody>
          <a:bodyPr vert="horz" lIns="91440" tIns="45720" rIns="91440" bIns="45720" rtlCol="0" anchor="t">
            <a:normAutofit fontScale="92500"/>
          </a:bodyPr>
          <a:lstStyle/>
          <a:p>
            <a:pPr marL="514350" indent="-514350">
              <a:lnSpc>
                <a:spcPct val="150000"/>
              </a:lnSpc>
              <a:buAutoNum type="arabicPeriod"/>
            </a:pPr>
            <a:r>
              <a:rPr lang="en-US" dirty="0"/>
              <a:t>Define Expected Dependencies for each Library in the repository.</a:t>
            </a:r>
          </a:p>
          <a:p>
            <a:pPr marL="514350" indent="-514350">
              <a:lnSpc>
                <a:spcPct val="150000"/>
              </a:lnSpc>
              <a:buAutoNum type="arabicPeriod"/>
            </a:pPr>
            <a:r>
              <a:rPr lang="en-US" dirty="0"/>
              <a:t>Create and maintain a Project file (lvproj) per library – To programmatically read the actual dependencies of libraries.</a:t>
            </a:r>
          </a:p>
          <a:p>
            <a:pPr marL="514350" indent="-514350">
              <a:lnSpc>
                <a:spcPct val="150000"/>
              </a:lnSpc>
              <a:buAutoNum type="arabicPeriod"/>
            </a:pPr>
            <a:r>
              <a:rPr lang="en-US" dirty="0"/>
              <a:t>In the CI Pipeline</a:t>
            </a:r>
          </a:p>
          <a:p>
            <a:pPr marL="971550" lvl="1" indent="-514350">
              <a:lnSpc>
                <a:spcPct val="150000"/>
              </a:lnSpc>
              <a:buAutoNum type="arabicPeriod"/>
            </a:pPr>
            <a:r>
              <a:rPr lang="en-US" dirty="0"/>
              <a:t>Programmatically compare the expected dependencies with actual dependencies for each library that get modified in each PR.</a:t>
            </a:r>
          </a:p>
          <a:p>
            <a:pPr marL="971550" lvl="1" indent="-514350">
              <a:lnSpc>
                <a:spcPct val="150000"/>
              </a:lnSpc>
              <a:buAutoNum type="arabicPeriod"/>
            </a:pPr>
            <a:r>
              <a:rPr lang="en-US" dirty="0"/>
              <a:t>Programmatically create a file with all actual dependency mappings, construct a Directional graph and perform circular dependency check.</a:t>
            </a:r>
            <a:endParaRPr lang="en-IN" dirty="0"/>
          </a:p>
        </p:txBody>
      </p:sp>
    </p:spTree>
    <p:extLst>
      <p:ext uri="{BB962C8B-B14F-4D97-AF65-F5344CB8AC3E}">
        <p14:creationId xmlns:p14="http://schemas.microsoft.com/office/powerpoint/2010/main" val="268586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61C04-7948-1F26-534C-A9BA03E8CAC7}"/>
              </a:ext>
            </a:extLst>
          </p:cNvPr>
          <p:cNvSpPr>
            <a:spLocks noGrp="1"/>
          </p:cNvSpPr>
          <p:nvPr>
            <p:ph type="title"/>
          </p:nvPr>
        </p:nvSpPr>
        <p:spPr>
          <a:xfrm>
            <a:off x="838200" y="365125"/>
            <a:ext cx="10515600" cy="544793"/>
          </a:xfrm>
        </p:spPr>
        <p:txBody>
          <a:bodyPr>
            <a:normAutofit fontScale="90000"/>
          </a:bodyPr>
          <a:lstStyle/>
          <a:p>
            <a:r>
              <a:rPr lang="en-IN" dirty="0"/>
              <a:t>Expected Dependencies File (.deps)</a:t>
            </a:r>
          </a:p>
        </p:txBody>
      </p:sp>
      <p:sp>
        <p:nvSpPr>
          <p:cNvPr id="3" name="Content Placeholder 2">
            <a:extLst>
              <a:ext uri="{FF2B5EF4-FFF2-40B4-BE49-F238E27FC236}">
                <a16:creationId xmlns:a16="http://schemas.microsoft.com/office/drawing/2014/main" id="{739DE899-C7C8-FD0E-E4B0-52A1AE1A302B}"/>
              </a:ext>
            </a:extLst>
          </p:cNvPr>
          <p:cNvSpPr>
            <a:spLocks noGrp="1"/>
          </p:cNvSpPr>
          <p:nvPr>
            <p:ph idx="1"/>
          </p:nvPr>
        </p:nvSpPr>
        <p:spPr>
          <a:xfrm>
            <a:off x="838200" y="1825625"/>
            <a:ext cx="5257800" cy="4351338"/>
          </a:xfrm>
        </p:spPr>
        <p:txBody>
          <a:bodyPr>
            <a:normAutofit/>
          </a:bodyPr>
          <a:lstStyle/>
          <a:p>
            <a:pPr>
              <a:lnSpc>
                <a:spcPct val="150000"/>
              </a:lnSpc>
            </a:pPr>
            <a:r>
              <a:rPr lang="en-IN" dirty="0"/>
              <a:t>For every library create a “.deps” file </a:t>
            </a:r>
          </a:p>
          <a:p>
            <a:pPr>
              <a:lnSpc>
                <a:spcPct val="150000"/>
              </a:lnSpc>
            </a:pPr>
            <a:r>
              <a:rPr lang="en-IN" dirty="0"/>
              <a:t>Section name </a:t>
            </a:r>
            <a:r>
              <a:rPr lang="en-IN" dirty="0">
                <a:sym typeface="Wingdings" panose="05000000000000000000" pitchFamily="2" charset="2"/>
              </a:rPr>
              <a:t> Library Name</a:t>
            </a:r>
          </a:p>
          <a:p>
            <a:pPr>
              <a:lnSpc>
                <a:spcPct val="150000"/>
              </a:lnSpc>
            </a:pPr>
            <a:r>
              <a:rPr lang="en-IN" dirty="0"/>
              <a:t>Key Names </a:t>
            </a:r>
            <a:r>
              <a:rPr lang="en-IN" dirty="0">
                <a:sym typeface="Wingdings" panose="05000000000000000000" pitchFamily="2" charset="2"/>
              </a:rPr>
              <a:t> Depe</a:t>
            </a:r>
            <a:r>
              <a:rPr lang="en-IN" dirty="0"/>
              <a:t>ndant Library Names.</a:t>
            </a:r>
          </a:p>
        </p:txBody>
      </p:sp>
      <p:sp>
        <p:nvSpPr>
          <p:cNvPr id="6" name="TextBox 5">
            <a:extLst>
              <a:ext uri="{FF2B5EF4-FFF2-40B4-BE49-F238E27FC236}">
                <a16:creationId xmlns:a16="http://schemas.microsoft.com/office/drawing/2014/main" id="{3DC075E5-51D7-6394-9D73-5363F899F4F5}"/>
              </a:ext>
            </a:extLst>
          </p:cNvPr>
          <p:cNvSpPr txBox="1"/>
          <p:nvPr/>
        </p:nvSpPr>
        <p:spPr>
          <a:xfrm>
            <a:off x="6254686" y="2063606"/>
            <a:ext cx="5369859" cy="646331"/>
          </a:xfrm>
          <a:prstGeom prst="rect">
            <a:avLst/>
          </a:prstGeom>
          <a:noFill/>
        </p:spPr>
        <p:txBody>
          <a:bodyPr wrap="square" rtlCol="0">
            <a:spAutoFit/>
          </a:bodyPr>
          <a:lstStyle/>
          <a:p>
            <a:r>
              <a:rPr lang="en-IN" u="sng" dirty="0"/>
              <a:t>Example: </a:t>
            </a:r>
          </a:p>
          <a:p>
            <a:r>
              <a:rPr lang="en-IN" dirty="0" err="1"/>
              <a:t>ModuleA.deps</a:t>
            </a:r>
            <a:r>
              <a:rPr lang="en-IN" dirty="0"/>
              <a:t>  (for the </a:t>
            </a:r>
            <a:r>
              <a:rPr lang="en-IN" dirty="0" err="1"/>
              <a:t>ModuleA.lvlib</a:t>
            </a:r>
            <a:r>
              <a:rPr lang="en-IN" dirty="0"/>
              <a:t>)</a:t>
            </a:r>
          </a:p>
        </p:txBody>
      </p:sp>
      <p:pic>
        <p:nvPicPr>
          <p:cNvPr id="8" name="Picture 7">
            <a:extLst>
              <a:ext uri="{FF2B5EF4-FFF2-40B4-BE49-F238E27FC236}">
                <a16:creationId xmlns:a16="http://schemas.microsoft.com/office/drawing/2014/main" id="{284F4299-897D-86BE-926B-FBF1C6BE90E9}"/>
              </a:ext>
            </a:extLst>
          </p:cNvPr>
          <p:cNvPicPr>
            <a:picLocks noChangeAspect="1"/>
          </p:cNvPicPr>
          <p:nvPr/>
        </p:nvPicPr>
        <p:blipFill>
          <a:blip r:embed="rId2"/>
          <a:stretch>
            <a:fillRect/>
          </a:stretch>
        </p:blipFill>
        <p:spPr>
          <a:xfrm>
            <a:off x="6311734" y="2849368"/>
            <a:ext cx="4875764" cy="2028514"/>
          </a:xfrm>
          <a:prstGeom prst="rect">
            <a:avLst/>
          </a:prstGeom>
        </p:spPr>
      </p:pic>
    </p:spTree>
    <p:extLst>
      <p:ext uri="{BB962C8B-B14F-4D97-AF65-F5344CB8AC3E}">
        <p14:creationId xmlns:p14="http://schemas.microsoft.com/office/powerpoint/2010/main" val="3538018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89A9-6555-BA9C-8D40-77D4A1CDD9DD}"/>
              </a:ext>
            </a:extLst>
          </p:cNvPr>
          <p:cNvSpPr>
            <a:spLocks noGrp="1"/>
          </p:cNvSpPr>
          <p:nvPr>
            <p:ph type="title"/>
          </p:nvPr>
        </p:nvSpPr>
        <p:spPr>
          <a:xfrm>
            <a:off x="838200" y="365125"/>
            <a:ext cx="10515600" cy="670299"/>
          </a:xfrm>
        </p:spPr>
        <p:txBody>
          <a:bodyPr>
            <a:normAutofit fontScale="90000"/>
          </a:bodyPr>
          <a:lstStyle/>
          <a:p>
            <a:r>
              <a:rPr lang="en-IN" dirty="0"/>
              <a:t>Actual Dependencies (.lvproj)</a:t>
            </a:r>
          </a:p>
        </p:txBody>
      </p:sp>
      <p:sp>
        <p:nvSpPr>
          <p:cNvPr id="3" name="Content Placeholder 2">
            <a:extLst>
              <a:ext uri="{FF2B5EF4-FFF2-40B4-BE49-F238E27FC236}">
                <a16:creationId xmlns:a16="http://schemas.microsoft.com/office/drawing/2014/main" id="{5B403EBD-680F-7B93-852A-611EA60BC1FF}"/>
              </a:ext>
            </a:extLst>
          </p:cNvPr>
          <p:cNvSpPr>
            <a:spLocks noGrp="1"/>
          </p:cNvSpPr>
          <p:nvPr>
            <p:ph idx="1"/>
          </p:nvPr>
        </p:nvSpPr>
        <p:spPr>
          <a:xfrm>
            <a:off x="838200" y="1416916"/>
            <a:ext cx="5809129" cy="4351338"/>
          </a:xfrm>
        </p:spPr>
        <p:txBody>
          <a:bodyPr>
            <a:normAutofit fontScale="92500" lnSpcReduction="10000"/>
          </a:bodyPr>
          <a:lstStyle/>
          <a:p>
            <a:pPr marL="0" indent="0">
              <a:lnSpc>
                <a:spcPct val="150000"/>
              </a:lnSpc>
              <a:buNone/>
            </a:pPr>
            <a:r>
              <a:rPr lang="en-IN" dirty="0"/>
              <a:t>1. For Every library “.</a:t>
            </a:r>
            <a:r>
              <a:rPr lang="en-IN" dirty="0" err="1"/>
              <a:t>lvlib</a:t>
            </a:r>
            <a:r>
              <a:rPr lang="en-IN" dirty="0"/>
              <a:t>” create a project “.</a:t>
            </a:r>
            <a:r>
              <a:rPr lang="en-IN" dirty="0" err="1"/>
              <a:t>lvproj</a:t>
            </a:r>
            <a:r>
              <a:rPr lang="en-IN" dirty="0"/>
              <a:t>” file.</a:t>
            </a:r>
          </a:p>
          <a:p>
            <a:pPr marL="0" indent="0">
              <a:lnSpc>
                <a:spcPct val="150000"/>
              </a:lnSpc>
              <a:buNone/>
            </a:pPr>
            <a:r>
              <a:rPr lang="en-IN" dirty="0"/>
              <a:t>2. This project files can be read by automation to read the actual dependencies of a </a:t>
            </a:r>
            <a:r>
              <a:rPr lang="en-IN" dirty="0" err="1"/>
              <a:t>lvlib</a:t>
            </a:r>
            <a:r>
              <a:rPr lang="en-IN" dirty="0"/>
              <a:t>.</a:t>
            </a:r>
          </a:p>
          <a:p>
            <a:pPr marL="0" indent="0">
              <a:lnSpc>
                <a:spcPct val="150000"/>
              </a:lnSpc>
              <a:buNone/>
            </a:pPr>
            <a:r>
              <a:rPr lang="en-IN" dirty="0"/>
              <a:t>3. This project can also include the build specification for the library. </a:t>
            </a:r>
          </a:p>
        </p:txBody>
      </p:sp>
      <p:sp>
        <p:nvSpPr>
          <p:cNvPr id="6" name="TextBox 5">
            <a:extLst>
              <a:ext uri="{FF2B5EF4-FFF2-40B4-BE49-F238E27FC236}">
                <a16:creationId xmlns:a16="http://schemas.microsoft.com/office/drawing/2014/main" id="{B37A1614-C895-0415-1C02-2C7062689E93}"/>
              </a:ext>
            </a:extLst>
          </p:cNvPr>
          <p:cNvSpPr txBox="1"/>
          <p:nvPr/>
        </p:nvSpPr>
        <p:spPr>
          <a:xfrm>
            <a:off x="7089045" y="1520825"/>
            <a:ext cx="5369859" cy="646331"/>
          </a:xfrm>
          <a:prstGeom prst="rect">
            <a:avLst/>
          </a:prstGeom>
          <a:noFill/>
        </p:spPr>
        <p:txBody>
          <a:bodyPr wrap="square" rtlCol="0">
            <a:spAutoFit/>
          </a:bodyPr>
          <a:lstStyle/>
          <a:p>
            <a:r>
              <a:rPr lang="en-IN" u="sng" dirty="0"/>
              <a:t>Example: </a:t>
            </a:r>
          </a:p>
          <a:p>
            <a:r>
              <a:rPr lang="en-IN" dirty="0" err="1"/>
              <a:t>ModuleA.lvproj</a:t>
            </a:r>
            <a:r>
              <a:rPr lang="en-IN" dirty="0"/>
              <a:t>  (for the </a:t>
            </a:r>
            <a:r>
              <a:rPr lang="en-IN" dirty="0" err="1"/>
              <a:t>ModuleA.lvlib</a:t>
            </a:r>
            <a:r>
              <a:rPr lang="en-IN" dirty="0"/>
              <a:t>)</a:t>
            </a:r>
          </a:p>
        </p:txBody>
      </p:sp>
      <p:pic>
        <p:nvPicPr>
          <p:cNvPr id="10" name="Picture 9">
            <a:extLst>
              <a:ext uri="{FF2B5EF4-FFF2-40B4-BE49-F238E27FC236}">
                <a16:creationId xmlns:a16="http://schemas.microsoft.com/office/drawing/2014/main" id="{966C580A-9695-57DB-D4C7-72D392ED28F0}"/>
              </a:ext>
            </a:extLst>
          </p:cNvPr>
          <p:cNvPicPr>
            <a:picLocks noChangeAspect="1"/>
          </p:cNvPicPr>
          <p:nvPr/>
        </p:nvPicPr>
        <p:blipFill>
          <a:blip r:embed="rId2"/>
          <a:stretch>
            <a:fillRect/>
          </a:stretch>
        </p:blipFill>
        <p:spPr>
          <a:xfrm>
            <a:off x="7186474" y="2283906"/>
            <a:ext cx="3948387" cy="3401025"/>
          </a:xfrm>
          <a:prstGeom prst="rect">
            <a:avLst/>
          </a:prstGeom>
          <a:ln>
            <a:solidFill>
              <a:schemeClr val="accent1">
                <a:shade val="15000"/>
              </a:schemeClr>
            </a:solidFill>
          </a:ln>
        </p:spPr>
      </p:pic>
    </p:spTree>
    <p:extLst>
      <p:ext uri="{BB962C8B-B14F-4D97-AF65-F5344CB8AC3E}">
        <p14:creationId xmlns:p14="http://schemas.microsoft.com/office/powerpoint/2010/main" val="234168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06F73-5989-8D3A-23E8-592D2D576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4A7F9-96B4-5C61-DC0B-A6F4D71512CF}"/>
              </a:ext>
            </a:extLst>
          </p:cNvPr>
          <p:cNvSpPr>
            <a:spLocks noGrp="1"/>
          </p:cNvSpPr>
          <p:nvPr>
            <p:ph type="title"/>
          </p:nvPr>
        </p:nvSpPr>
        <p:spPr>
          <a:xfrm>
            <a:off x="584336" y="206962"/>
            <a:ext cx="10515600" cy="459628"/>
          </a:xfrm>
        </p:spPr>
        <p:txBody>
          <a:bodyPr>
            <a:noAutofit/>
          </a:bodyPr>
          <a:lstStyle/>
          <a:p>
            <a:r>
              <a:rPr lang="en-IN" sz="3600" dirty="0"/>
              <a:t>Dependency Check – Examples </a:t>
            </a:r>
          </a:p>
        </p:txBody>
      </p:sp>
      <p:pic>
        <p:nvPicPr>
          <p:cNvPr id="4" name="Picture 3">
            <a:extLst>
              <a:ext uri="{FF2B5EF4-FFF2-40B4-BE49-F238E27FC236}">
                <a16:creationId xmlns:a16="http://schemas.microsoft.com/office/drawing/2014/main" id="{52CBD17C-A240-51DF-574A-9F7677C44357}"/>
              </a:ext>
            </a:extLst>
          </p:cNvPr>
          <p:cNvPicPr>
            <a:picLocks noChangeAspect="1"/>
          </p:cNvPicPr>
          <p:nvPr/>
        </p:nvPicPr>
        <p:blipFill>
          <a:blip r:embed="rId2"/>
          <a:stretch>
            <a:fillRect/>
          </a:stretch>
        </p:blipFill>
        <p:spPr>
          <a:xfrm>
            <a:off x="448237" y="1436835"/>
            <a:ext cx="3213846" cy="1337089"/>
          </a:xfrm>
          <a:prstGeom prst="rect">
            <a:avLst/>
          </a:prstGeom>
        </p:spPr>
      </p:pic>
      <p:pic>
        <p:nvPicPr>
          <p:cNvPr id="5" name="Picture 4">
            <a:extLst>
              <a:ext uri="{FF2B5EF4-FFF2-40B4-BE49-F238E27FC236}">
                <a16:creationId xmlns:a16="http://schemas.microsoft.com/office/drawing/2014/main" id="{79E10421-1C23-8642-1F9F-3A77A23164BD}"/>
              </a:ext>
            </a:extLst>
          </p:cNvPr>
          <p:cNvPicPr>
            <a:picLocks noChangeAspect="1"/>
          </p:cNvPicPr>
          <p:nvPr/>
        </p:nvPicPr>
        <p:blipFill>
          <a:blip r:embed="rId3"/>
          <a:stretch>
            <a:fillRect/>
          </a:stretch>
        </p:blipFill>
        <p:spPr>
          <a:xfrm>
            <a:off x="4397189" y="1436835"/>
            <a:ext cx="2398406" cy="2065917"/>
          </a:xfrm>
          <a:prstGeom prst="rect">
            <a:avLst/>
          </a:prstGeom>
          <a:ln>
            <a:solidFill>
              <a:schemeClr val="accent1">
                <a:shade val="15000"/>
              </a:schemeClr>
            </a:solidFill>
          </a:ln>
        </p:spPr>
      </p:pic>
      <p:pic>
        <p:nvPicPr>
          <p:cNvPr id="7" name="Picture 6">
            <a:extLst>
              <a:ext uri="{FF2B5EF4-FFF2-40B4-BE49-F238E27FC236}">
                <a16:creationId xmlns:a16="http://schemas.microsoft.com/office/drawing/2014/main" id="{402A5A47-5921-4684-D5DB-CA1775CEAB00}"/>
              </a:ext>
            </a:extLst>
          </p:cNvPr>
          <p:cNvPicPr>
            <a:picLocks noChangeAspect="1"/>
          </p:cNvPicPr>
          <p:nvPr/>
        </p:nvPicPr>
        <p:blipFill>
          <a:blip r:embed="rId4"/>
          <a:stretch>
            <a:fillRect/>
          </a:stretch>
        </p:blipFill>
        <p:spPr>
          <a:xfrm>
            <a:off x="4397188" y="4274127"/>
            <a:ext cx="2398405" cy="1979915"/>
          </a:xfrm>
          <a:prstGeom prst="rect">
            <a:avLst/>
          </a:prstGeom>
          <a:ln>
            <a:solidFill>
              <a:schemeClr val="accent1">
                <a:shade val="15000"/>
              </a:schemeClr>
            </a:solidFill>
          </a:ln>
        </p:spPr>
      </p:pic>
      <p:pic>
        <p:nvPicPr>
          <p:cNvPr id="9" name="Picture 8">
            <a:extLst>
              <a:ext uri="{FF2B5EF4-FFF2-40B4-BE49-F238E27FC236}">
                <a16:creationId xmlns:a16="http://schemas.microsoft.com/office/drawing/2014/main" id="{0945711F-F8BD-5E82-CA4B-C4B03C8871E2}"/>
              </a:ext>
            </a:extLst>
          </p:cNvPr>
          <p:cNvPicPr>
            <a:picLocks noChangeAspect="1"/>
          </p:cNvPicPr>
          <p:nvPr/>
        </p:nvPicPr>
        <p:blipFill>
          <a:blip r:embed="rId5"/>
          <a:stretch>
            <a:fillRect/>
          </a:stretch>
        </p:blipFill>
        <p:spPr>
          <a:xfrm>
            <a:off x="448237" y="4274127"/>
            <a:ext cx="3213846" cy="1330401"/>
          </a:xfrm>
          <a:prstGeom prst="rect">
            <a:avLst/>
          </a:prstGeom>
        </p:spPr>
      </p:pic>
      <p:sp>
        <p:nvSpPr>
          <p:cNvPr id="10" name="Rectangle 9">
            <a:extLst>
              <a:ext uri="{FF2B5EF4-FFF2-40B4-BE49-F238E27FC236}">
                <a16:creationId xmlns:a16="http://schemas.microsoft.com/office/drawing/2014/main" id="{E18D4675-B920-72C1-D07D-9E18FD1AFED4}"/>
              </a:ext>
            </a:extLst>
          </p:cNvPr>
          <p:cNvSpPr/>
          <p:nvPr/>
        </p:nvSpPr>
        <p:spPr>
          <a:xfrm>
            <a:off x="7721339" y="1436835"/>
            <a:ext cx="3054237" cy="3891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200" dirty="0"/>
              <a:t>✅ Pass – No Unexpected Dependencies</a:t>
            </a:r>
          </a:p>
        </p:txBody>
      </p:sp>
      <p:sp>
        <p:nvSpPr>
          <p:cNvPr id="11" name="Rectangle 10">
            <a:extLst>
              <a:ext uri="{FF2B5EF4-FFF2-40B4-BE49-F238E27FC236}">
                <a16:creationId xmlns:a16="http://schemas.microsoft.com/office/drawing/2014/main" id="{C96155B4-AAD5-6548-8FF2-AAA6A67776D4}"/>
              </a:ext>
            </a:extLst>
          </p:cNvPr>
          <p:cNvSpPr/>
          <p:nvPr/>
        </p:nvSpPr>
        <p:spPr>
          <a:xfrm>
            <a:off x="7721340" y="4274127"/>
            <a:ext cx="3054237" cy="14388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IN" sz="1200" dirty="0"/>
              <a:t>❌</a:t>
            </a:r>
            <a:r>
              <a:rPr lang="en-US" sz="1200" dirty="0"/>
              <a:t> 1 Unexpected Dependency Found</a:t>
            </a:r>
          </a:p>
          <a:p>
            <a:pPr>
              <a:lnSpc>
                <a:spcPct val="150000"/>
              </a:lnSpc>
            </a:pPr>
            <a:r>
              <a:rPr lang="en-US" sz="1200" dirty="0"/>
              <a:t>       </a:t>
            </a:r>
            <a:r>
              <a:rPr lang="en-US" sz="1200" dirty="0" err="1"/>
              <a:t>ACComm.lvlib</a:t>
            </a:r>
            <a:endParaRPr lang="en-US" sz="1200" dirty="0"/>
          </a:p>
          <a:p>
            <a:pPr>
              <a:lnSpc>
                <a:spcPct val="150000"/>
              </a:lnSpc>
            </a:pPr>
            <a:r>
              <a:rPr lang="en-IN" sz="1200" dirty="0"/>
              <a:t>❌</a:t>
            </a:r>
            <a:r>
              <a:rPr lang="en-US" sz="1200" dirty="0"/>
              <a:t> 1 Expected Dependency Missing</a:t>
            </a:r>
          </a:p>
          <a:p>
            <a:pPr>
              <a:lnSpc>
                <a:spcPct val="150000"/>
              </a:lnSpc>
            </a:pPr>
            <a:r>
              <a:rPr lang="en-US" sz="1200" dirty="0"/>
              <a:t>       </a:t>
            </a:r>
            <a:r>
              <a:rPr lang="en-US" sz="1200" dirty="0" err="1"/>
              <a:t>FileUtilities.lvlib</a:t>
            </a:r>
            <a:endParaRPr lang="en-US" sz="1200" dirty="0"/>
          </a:p>
          <a:p>
            <a:pPr>
              <a:lnSpc>
                <a:spcPct val="150000"/>
              </a:lnSpc>
            </a:pPr>
            <a:endParaRPr lang="en-US" sz="1200" dirty="0"/>
          </a:p>
        </p:txBody>
      </p:sp>
      <p:sp>
        <p:nvSpPr>
          <p:cNvPr id="3" name="TextBox 2">
            <a:extLst>
              <a:ext uri="{FF2B5EF4-FFF2-40B4-BE49-F238E27FC236}">
                <a16:creationId xmlns:a16="http://schemas.microsoft.com/office/drawing/2014/main" id="{6D13AD30-D5B7-8A83-683A-B00410982A14}"/>
              </a:ext>
            </a:extLst>
          </p:cNvPr>
          <p:cNvSpPr txBox="1"/>
          <p:nvPr/>
        </p:nvSpPr>
        <p:spPr>
          <a:xfrm>
            <a:off x="448237" y="942682"/>
            <a:ext cx="10787799" cy="369332"/>
          </a:xfrm>
          <a:prstGeom prst="rect">
            <a:avLst/>
          </a:prstGeom>
          <a:noFill/>
        </p:spPr>
        <p:txBody>
          <a:bodyPr wrap="square" rtlCol="0">
            <a:spAutoFit/>
          </a:bodyPr>
          <a:lstStyle/>
          <a:p>
            <a:r>
              <a:rPr lang="en-IN" dirty="0"/>
              <a:t>Example 1: ModuleA.lvproj (Actual dependencies) match with the ModuleA.deps (Expected dependencies)</a:t>
            </a:r>
          </a:p>
        </p:txBody>
      </p:sp>
      <p:sp>
        <p:nvSpPr>
          <p:cNvPr id="6" name="TextBox 5">
            <a:extLst>
              <a:ext uri="{FF2B5EF4-FFF2-40B4-BE49-F238E27FC236}">
                <a16:creationId xmlns:a16="http://schemas.microsoft.com/office/drawing/2014/main" id="{EAA140D8-7A84-5DDD-DD18-8D18CB67E928}"/>
              </a:ext>
            </a:extLst>
          </p:cNvPr>
          <p:cNvSpPr txBox="1"/>
          <p:nvPr/>
        </p:nvSpPr>
        <p:spPr>
          <a:xfrm>
            <a:off x="343103" y="3812239"/>
            <a:ext cx="11164319" cy="369332"/>
          </a:xfrm>
          <a:prstGeom prst="rect">
            <a:avLst/>
          </a:prstGeom>
          <a:noFill/>
        </p:spPr>
        <p:txBody>
          <a:bodyPr wrap="square" rtlCol="0">
            <a:spAutoFit/>
          </a:bodyPr>
          <a:lstStyle/>
          <a:p>
            <a:r>
              <a:rPr lang="en-IN" dirty="0"/>
              <a:t>Example 2: ModuleB.lvproj (Actual dependencies) does not match the ModuleB.deps (Expected dependencies)</a:t>
            </a:r>
          </a:p>
        </p:txBody>
      </p:sp>
    </p:spTree>
    <p:extLst>
      <p:ext uri="{BB962C8B-B14F-4D97-AF65-F5344CB8AC3E}">
        <p14:creationId xmlns:p14="http://schemas.microsoft.com/office/powerpoint/2010/main" val="384464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22AD-17B9-9B80-463B-EE92940946B7}"/>
              </a:ext>
            </a:extLst>
          </p:cNvPr>
          <p:cNvSpPr>
            <a:spLocks noGrp="1"/>
          </p:cNvSpPr>
          <p:nvPr>
            <p:ph type="title"/>
          </p:nvPr>
        </p:nvSpPr>
        <p:spPr>
          <a:xfrm>
            <a:off x="551873" y="205469"/>
            <a:ext cx="10515600" cy="542018"/>
          </a:xfrm>
        </p:spPr>
        <p:txBody>
          <a:bodyPr>
            <a:noAutofit/>
          </a:bodyPr>
          <a:lstStyle/>
          <a:p>
            <a:r>
              <a:rPr lang="en-IN" sz="3600" dirty="0"/>
              <a:t>Automate Unexpected Dependencies Check</a:t>
            </a:r>
          </a:p>
        </p:txBody>
      </p:sp>
      <p:pic>
        <p:nvPicPr>
          <p:cNvPr id="7" name="Picture 6">
            <a:extLst>
              <a:ext uri="{FF2B5EF4-FFF2-40B4-BE49-F238E27FC236}">
                <a16:creationId xmlns:a16="http://schemas.microsoft.com/office/drawing/2014/main" id="{D3413897-42F2-86BB-48D3-F9245761B5A3}"/>
              </a:ext>
            </a:extLst>
          </p:cNvPr>
          <p:cNvPicPr>
            <a:picLocks noChangeAspect="1"/>
          </p:cNvPicPr>
          <p:nvPr/>
        </p:nvPicPr>
        <p:blipFill>
          <a:blip r:embed="rId2"/>
          <a:stretch>
            <a:fillRect/>
          </a:stretch>
        </p:blipFill>
        <p:spPr>
          <a:xfrm>
            <a:off x="658091" y="2253138"/>
            <a:ext cx="9278376" cy="4399393"/>
          </a:xfrm>
          <a:prstGeom prst="rect">
            <a:avLst/>
          </a:prstGeom>
        </p:spPr>
      </p:pic>
      <p:sp>
        <p:nvSpPr>
          <p:cNvPr id="3" name="TextBox 2">
            <a:extLst>
              <a:ext uri="{FF2B5EF4-FFF2-40B4-BE49-F238E27FC236}">
                <a16:creationId xmlns:a16="http://schemas.microsoft.com/office/drawing/2014/main" id="{A881F9DA-F252-712F-C4DC-97B76F9911B9}"/>
              </a:ext>
            </a:extLst>
          </p:cNvPr>
          <p:cNvSpPr txBox="1"/>
          <p:nvPr/>
        </p:nvSpPr>
        <p:spPr>
          <a:xfrm>
            <a:off x="551873" y="823332"/>
            <a:ext cx="9779448" cy="1353960"/>
          </a:xfrm>
          <a:prstGeom prst="rect">
            <a:avLst/>
          </a:prstGeom>
          <a:noFill/>
        </p:spPr>
        <p:txBody>
          <a:bodyPr wrap="square" rtlCol="0">
            <a:spAutoFit/>
          </a:bodyPr>
          <a:lstStyle/>
          <a:p>
            <a:pPr>
              <a:lnSpc>
                <a:spcPct val="150000"/>
              </a:lnSpc>
            </a:pPr>
            <a:r>
              <a:rPr lang="en-IN" sz="1400" dirty="0"/>
              <a:t>UnexpectedDepsCheck.vi – VI used to perform unexpected Dependencies Check</a:t>
            </a:r>
          </a:p>
          <a:p>
            <a:pPr marL="342900" indent="-342900">
              <a:lnSpc>
                <a:spcPct val="150000"/>
              </a:lnSpc>
              <a:buAutoNum type="arabicPeriod"/>
            </a:pPr>
            <a:r>
              <a:rPr lang="en-IN" sz="1400" dirty="0"/>
              <a:t>Can be run in GUI Mode or CLI Mode.</a:t>
            </a:r>
          </a:p>
          <a:p>
            <a:pPr marL="342900" indent="-342900">
              <a:lnSpc>
                <a:spcPct val="150000"/>
              </a:lnSpc>
              <a:buAutoNum type="arabicPeriod"/>
            </a:pPr>
            <a:r>
              <a:rPr lang="en-IN" sz="1400" dirty="0"/>
              <a:t>Has option to limit the check only to Changed Libraries in a PR.</a:t>
            </a:r>
          </a:p>
          <a:p>
            <a:pPr marL="342900" indent="-342900">
              <a:lnSpc>
                <a:spcPct val="150000"/>
              </a:lnSpc>
              <a:buAutoNum type="arabicPeriod"/>
            </a:pPr>
            <a:r>
              <a:rPr lang="en-IN" sz="1400" dirty="0"/>
              <a:t>Library wise failures are displayed.</a:t>
            </a:r>
          </a:p>
        </p:txBody>
      </p:sp>
    </p:spTree>
    <p:extLst>
      <p:ext uri="{BB962C8B-B14F-4D97-AF65-F5344CB8AC3E}">
        <p14:creationId xmlns:p14="http://schemas.microsoft.com/office/powerpoint/2010/main" val="238322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0671-3C2C-C369-4871-E1ABFC7D559E}"/>
              </a:ext>
            </a:extLst>
          </p:cNvPr>
          <p:cNvSpPr>
            <a:spLocks noGrp="1"/>
          </p:cNvSpPr>
          <p:nvPr>
            <p:ph type="title"/>
          </p:nvPr>
        </p:nvSpPr>
        <p:spPr>
          <a:xfrm>
            <a:off x="611638" y="257268"/>
            <a:ext cx="10515600" cy="423769"/>
          </a:xfrm>
        </p:spPr>
        <p:txBody>
          <a:bodyPr>
            <a:noAutofit/>
          </a:bodyPr>
          <a:lstStyle/>
          <a:p>
            <a:r>
              <a:rPr lang="en-IN" sz="3600" dirty="0"/>
              <a:t>Consolidated Actual Dependencies List (.adeps)</a:t>
            </a:r>
          </a:p>
        </p:txBody>
      </p:sp>
      <p:sp>
        <p:nvSpPr>
          <p:cNvPr id="3" name="Content Placeholder 2">
            <a:extLst>
              <a:ext uri="{FF2B5EF4-FFF2-40B4-BE49-F238E27FC236}">
                <a16:creationId xmlns:a16="http://schemas.microsoft.com/office/drawing/2014/main" id="{6F75680A-3AEC-6D7B-159A-056C9BB043B0}"/>
              </a:ext>
            </a:extLst>
          </p:cNvPr>
          <p:cNvSpPr>
            <a:spLocks noGrp="1"/>
          </p:cNvSpPr>
          <p:nvPr>
            <p:ph idx="1"/>
          </p:nvPr>
        </p:nvSpPr>
        <p:spPr>
          <a:xfrm>
            <a:off x="838200" y="1044388"/>
            <a:ext cx="4782671" cy="5132575"/>
          </a:xfrm>
        </p:spPr>
        <p:txBody>
          <a:bodyPr>
            <a:normAutofit fontScale="85000" lnSpcReduction="20000"/>
          </a:bodyPr>
          <a:lstStyle/>
          <a:p>
            <a:pPr>
              <a:lnSpc>
                <a:spcPct val="150000"/>
              </a:lnSpc>
            </a:pPr>
            <a:r>
              <a:rPr lang="en-IN" sz="2000" dirty="0"/>
              <a:t>This File is generated by automation with all the dependency mappings obtained from all the </a:t>
            </a:r>
            <a:r>
              <a:rPr lang="en-IN" sz="2000" dirty="0" err="1"/>
              <a:t>lvproj</a:t>
            </a:r>
            <a:r>
              <a:rPr lang="en-IN" sz="2000" dirty="0"/>
              <a:t> files. </a:t>
            </a:r>
          </a:p>
          <a:p>
            <a:pPr>
              <a:lnSpc>
                <a:spcPct val="150000"/>
              </a:lnSpc>
            </a:pPr>
            <a:r>
              <a:rPr lang="en-IN" sz="2000" dirty="0"/>
              <a:t>Represents all the actual dependency links in the repository.</a:t>
            </a:r>
          </a:p>
          <a:p>
            <a:pPr>
              <a:lnSpc>
                <a:spcPct val="150000"/>
              </a:lnSpc>
            </a:pPr>
            <a:r>
              <a:rPr lang="en-IN" sz="2000" dirty="0"/>
              <a:t>Automation uses this to construct a Directional Graph Data structure and finding the circular dependencies that hinder Modular PPL builds.</a:t>
            </a:r>
          </a:p>
          <a:p>
            <a:pPr>
              <a:lnSpc>
                <a:spcPct val="150000"/>
              </a:lnSpc>
            </a:pPr>
            <a:r>
              <a:rPr lang="en-IN" sz="2000" dirty="0"/>
              <a:t>Circular Dependency Example: If developer calls a typedef from </a:t>
            </a:r>
            <a:r>
              <a:rPr lang="en-IN" sz="2000" dirty="0" err="1"/>
              <a:t>ModuleA.lvlib</a:t>
            </a:r>
            <a:r>
              <a:rPr lang="en-IN" sz="2000" dirty="0"/>
              <a:t> in </a:t>
            </a:r>
            <a:r>
              <a:rPr lang="en-IN" sz="2000" dirty="0" err="1"/>
              <a:t>ABComm.lvlib</a:t>
            </a:r>
            <a:r>
              <a:rPr lang="en-IN" sz="2000" dirty="0"/>
              <a:t>.</a:t>
            </a:r>
          </a:p>
          <a:p>
            <a:pPr lvl="1">
              <a:lnSpc>
                <a:spcPct val="150000"/>
              </a:lnSpc>
            </a:pPr>
            <a:r>
              <a:rPr lang="en-IN" sz="1600" dirty="0"/>
              <a:t>A Key “Module A” is inserted into “[</a:t>
            </a:r>
            <a:r>
              <a:rPr lang="en-IN" sz="1600" dirty="0" err="1"/>
              <a:t>ABComm</a:t>
            </a:r>
            <a:r>
              <a:rPr lang="en-IN" sz="1600" dirty="0"/>
              <a:t>]” It will form a circular path: </a:t>
            </a:r>
            <a:r>
              <a:rPr lang="en-IN" sz="1600" dirty="0" err="1"/>
              <a:t>ModuleA</a:t>
            </a:r>
            <a:r>
              <a:rPr lang="en-IN" sz="1600" dirty="0"/>
              <a:t> </a:t>
            </a:r>
            <a:r>
              <a:rPr lang="en-IN" sz="1600" dirty="0">
                <a:sym typeface="Wingdings" panose="05000000000000000000" pitchFamily="2" charset="2"/>
              </a:rPr>
              <a:t> </a:t>
            </a:r>
            <a:r>
              <a:rPr lang="en-IN" sz="1600" dirty="0" err="1">
                <a:sym typeface="Wingdings" panose="05000000000000000000" pitchFamily="2" charset="2"/>
              </a:rPr>
              <a:t>ABComm</a:t>
            </a:r>
            <a:r>
              <a:rPr lang="en-IN" sz="1600" dirty="0">
                <a:sym typeface="Wingdings" panose="05000000000000000000" pitchFamily="2" charset="2"/>
              </a:rPr>
              <a:t>  </a:t>
            </a:r>
            <a:r>
              <a:rPr lang="en-IN" sz="1600" dirty="0" err="1">
                <a:sym typeface="Wingdings" panose="05000000000000000000" pitchFamily="2" charset="2"/>
              </a:rPr>
              <a:t>ModuleA</a:t>
            </a:r>
            <a:endParaRPr lang="en-IN" sz="1600" dirty="0"/>
          </a:p>
        </p:txBody>
      </p:sp>
      <p:pic>
        <p:nvPicPr>
          <p:cNvPr id="6" name="Picture 5">
            <a:extLst>
              <a:ext uri="{FF2B5EF4-FFF2-40B4-BE49-F238E27FC236}">
                <a16:creationId xmlns:a16="http://schemas.microsoft.com/office/drawing/2014/main" id="{7C8F8710-E8A4-644A-D214-189BFA41BC9F}"/>
              </a:ext>
            </a:extLst>
          </p:cNvPr>
          <p:cNvPicPr>
            <a:picLocks noChangeAspect="1"/>
          </p:cNvPicPr>
          <p:nvPr/>
        </p:nvPicPr>
        <p:blipFill>
          <a:blip r:embed="rId2"/>
          <a:stretch>
            <a:fillRect/>
          </a:stretch>
        </p:blipFill>
        <p:spPr>
          <a:xfrm>
            <a:off x="6396558" y="820267"/>
            <a:ext cx="3836855" cy="5521327"/>
          </a:xfrm>
          <a:prstGeom prst="rect">
            <a:avLst/>
          </a:prstGeom>
        </p:spPr>
      </p:pic>
    </p:spTree>
    <p:extLst>
      <p:ext uri="{BB962C8B-B14F-4D97-AF65-F5344CB8AC3E}">
        <p14:creationId xmlns:p14="http://schemas.microsoft.com/office/powerpoint/2010/main" val="2103291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B494-C923-23B1-C3F8-550DF7C9E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9B714-0AA1-5783-5612-85D88944A069}"/>
              </a:ext>
            </a:extLst>
          </p:cNvPr>
          <p:cNvSpPr>
            <a:spLocks noGrp="1"/>
          </p:cNvSpPr>
          <p:nvPr>
            <p:ph type="title"/>
          </p:nvPr>
        </p:nvSpPr>
        <p:spPr>
          <a:xfrm>
            <a:off x="605119" y="256825"/>
            <a:ext cx="10515600" cy="782884"/>
          </a:xfrm>
        </p:spPr>
        <p:txBody>
          <a:bodyPr/>
          <a:lstStyle/>
          <a:p>
            <a:r>
              <a:rPr lang="en-US" dirty="0"/>
              <a:t>Development Workflow</a:t>
            </a:r>
            <a:endParaRPr lang="en-IN" dirty="0"/>
          </a:p>
        </p:txBody>
      </p:sp>
      <p:sp>
        <p:nvSpPr>
          <p:cNvPr id="3" name="Rectangle 2">
            <a:extLst>
              <a:ext uri="{FF2B5EF4-FFF2-40B4-BE49-F238E27FC236}">
                <a16:creationId xmlns:a16="http://schemas.microsoft.com/office/drawing/2014/main" id="{CB074F18-D634-02B5-83B6-6FCA2EBC0678}"/>
              </a:ext>
            </a:extLst>
          </p:cNvPr>
          <p:cNvSpPr/>
          <p:nvPr/>
        </p:nvSpPr>
        <p:spPr>
          <a:xfrm>
            <a:off x="605119" y="1233488"/>
            <a:ext cx="11089340" cy="5225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228600" indent="-228600">
              <a:lnSpc>
                <a:spcPct val="150000"/>
              </a:lnSpc>
              <a:buAutoNum type="arabicPeriod"/>
            </a:pPr>
            <a:r>
              <a:rPr lang="en-US" dirty="0"/>
              <a:t>Initial Setup: Create .lvproj for each .</a:t>
            </a:r>
            <a:r>
              <a:rPr lang="en-US" dirty="0" err="1"/>
              <a:t>lvlib</a:t>
            </a:r>
            <a:r>
              <a:rPr lang="en-US" dirty="0"/>
              <a:t> to track actual dependencies.</a:t>
            </a:r>
          </a:p>
          <a:p>
            <a:pPr marL="228600" indent="-228600">
              <a:lnSpc>
                <a:spcPct val="150000"/>
              </a:lnSpc>
              <a:buAutoNum type="arabicPeriod"/>
            </a:pPr>
            <a:r>
              <a:rPr lang="en-US" dirty="0"/>
              <a:t>Initial Setup: Tech Leads Define the Expected Dependencies (.deps) for each .</a:t>
            </a:r>
            <a:r>
              <a:rPr lang="en-US" dirty="0" err="1"/>
              <a:t>lvlib</a:t>
            </a:r>
            <a:r>
              <a:rPr lang="en-US" dirty="0"/>
              <a:t> in the repository.</a:t>
            </a:r>
          </a:p>
          <a:p>
            <a:pPr marL="228600" indent="-228600">
              <a:lnSpc>
                <a:spcPct val="150000"/>
              </a:lnSpc>
              <a:buAutoNum type="arabicPeriod"/>
            </a:pPr>
            <a:r>
              <a:rPr lang="en-US" dirty="0"/>
              <a:t>For each feature development, a PR is created in the repository for review</a:t>
            </a:r>
          </a:p>
          <a:p>
            <a:pPr marL="228600" indent="-228600">
              <a:lnSpc>
                <a:spcPct val="150000"/>
              </a:lnSpc>
              <a:buAutoNum type="arabicPeriod"/>
            </a:pPr>
            <a:r>
              <a:rPr lang="en-US" dirty="0"/>
              <a:t>CI Checks run in a Virtual Machine</a:t>
            </a:r>
          </a:p>
          <a:p>
            <a:pPr marL="685800" lvl="1" indent="-228600">
              <a:lnSpc>
                <a:spcPct val="150000"/>
              </a:lnSpc>
              <a:buAutoNum type="arabicPeriod"/>
            </a:pPr>
            <a:r>
              <a:rPr lang="en-US" dirty="0"/>
              <a:t>If CI Checks Fail or Pending, PR merge is blocked</a:t>
            </a:r>
          </a:p>
          <a:p>
            <a:pPr marL="1143000" lvl="2" indent="-228600">
              <a:lnSpc>
                <a:spcPct val="150000"/>
              </a:lnSpc>
              <a:buAutoNum type="arabicPeriod"/>
            </a:pPr>
            <a:r>
              <a:rPr lang="en-US" dirty="0"/>
              <a:t>Scenario 1: Developers understand the failures and defined boundaries, update the code accordingly to adhere to the defined dependencies.</a:t>
            </a:r>
          </a:p>
          <a:p>
            <a:pPr marL="1143000" lvl="2" indent="-228600">
              <a:lnSpc>
                <a:spcPct val="150000"/>
              </a:lnSpc>
              <a:buAutoNum type="arabicPeriod"/>
            </a:pPr>
            <a:r>
              <a:rPr lang="en-US" dirty="0"/>
              <a:t>Scenario 2: Developers propose change in .deps and get approval. </a:t>
            </a:r>
            <a:br>
              <a:rPr lang="en-US" dirty="0"/>
            </a:br>
            <a:r>
              <a:rPr lang="en-US" dirty="0"/>
              <a:t>This is a Guided change in design.</a:t>
            </a:r>
          </a:p>
          <a:p>
            <a:pPr marL="1143000" lvl="2" indent="-228600">
              <a:lnSpc>
                <a:spcPct val="150000"/>
              </a:lnSpc>
              <a:buAutoNum type="arabicPeriod"/>
            </a:pPr>
            <a:r>
              <a:rPr lang="en-US" dirty="0"/>
              <a:t>After the fix, the checks are trigged again, and the checks pass.</a:t>
            </a:r>
          </a:p>
          <a:p>
            <a:pPr marL="685800" lvl="1" indent="-228600">
              <a:lnSpc>
                <a:spcPct val="150000"/>
              </a:lnSpc>
              <a:buAutoNum type="arabicPeriod"/>
            </a:pPr>
            <a:r>
              <a:rPr lang="en-US" dirty="0"/>
              <a:t>If CI Checks Pass, PR merge is allowed</a:t>
            </a:r>
          </a:p>
          <a:p>
            <a:pPr>
              <a:lnSpc>
                <a:spcPct val="150000"/>
              </a:lnSpc>
            </a:pPr>
            <a:endParaRPr lang="en-US" sz="1200" dirty="0"/>
          </a:p>
        </p:txBody>
      </p:sp>
    </p:spTree>
    <p:extLst>
      <p:ext uri="{BB962C8B-B14F-4D97-AF65-F5344CB8AC3E}">
        <p14:creationId xmlns:p14="http://schemas.microsoft.com/office/powerpoint/2010/main" val="54255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BC1AD-E5A9-8FB6-DAEA-B8D49415EFF4}"/>
              </a:ext>
            </a:extLst>
          </p:cNvPr>
          <p:cNvSpPr>
            <a:spLocks noGrp="1"/>
          </p:cNvSpPr>
          <p:nvPr>
            <p:ph type="title"/>
          </p:nvPr>
        </p:nvSpPr>
        <p:spPr>
          <a:xfrm>
            <a:off x="605119" y="237290"/>
            <a:ext cx="10515600" cy="642474"/>
          </a:xfrm>
        </p:spPr>
        <p:txBody>
          <a:bodyPr>
            <a:normAutofit fontScale="90000"/>
          </a:bodyPr>
          <a:lstStyle/>
          <a:p>
            <a:r>
              <a:rPr lang="en-US" dirty="0"/>
              <a:t>Example Codebase for Demonstration</a:t>
            </a:r>
            <a:endParaRPr lang="en-IN" dirty="0"/>
          </a:p>
        </p:txBody>
      </p:sp>
      <p:grpSp>
        <p:nvGrpSpPr>
          <p:cNvPr id="15" name="Group 14">
            <a:extLst>
              <a:ext uri="{FF2B5EF4-FFF2-40B4-BE49-F238E27FC236}">
                <a16:creationId xmlns:a16="http://schemas.microsoft.com/office/drawing/2014/main" id="{FDA6EE30-9727-B8F1-CD6A-42D5D0C0B93F}"/>
              </a:ext>
            </a:extLst>
          </p:cNvPr>
          <p:cNvGrpSpPr/>
          <p:nvPr/>
        </p:nvGrpSpPr>
        <p:grpSpPr>
          <a:xfrm>
            <a:off x="1442029" y="2028686"/>
            <a:ext cx="3747945" cy="2416557"/>
            <a:chOff x="1442029" y="2028686"/>
            <a:chExt cx="3747945" cy="2416557"/>
          </a:xfrm>
        </p:grpSpPr>
        <p:sp>
          <p:nvSpPr>
            <p:cNvPr id="4" name="Rectangle 3">
              <a:extLst>
                <a:ext uri="{FF2B5EF4-FFF2-40B4-BE49-F238E27FC236}">
                  <a16:creationId xmlns:a16="http://schemas.microsoft.com/office/drawing/2014/main" id="{A2F4168B-8F26-C195-A99A-7606C8DCA084}"/>
                </a:ext>
              </a:extLst>
            </p:cNvPr>
            <p:cNvSpPr/>
            <p:nvPr/>
          </p:nvSpPr>
          <p:spPr>
            <a:xfrm>
              <a:off x="3857974" y="2914608"/>
              <a:ext cx="1327387"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ModuleB</a:t>
              </a:r>
              <a:r>
                <a:rPr lang="en-US" sz="1200" dirty="0" err="1">
                  <a:solidFill>
                    <a:schemeClr val="tx1"/>
                  </a:solidFill>
                </a:rPr>
                <a:t>.</a:t>
              </a:r>
              <a:r>
                <a:rPr lang="en-US" sz="1200" b="1" dirty="0" err="1">
                  <a:solidFill>
                    <a:schemeClr val="tx1"/>
                  </a:solidFill>
                </a:rPr>
                <a:t>lvlib</a:t>
              </a:r>
              <a:endParaRPr lang="en-US" sz="1200" b="1" dirty="0">
                <a:solidFill>
                  <a:schemeClr val="tx1"/>
                </a:solidFill>
              </a:endParaRPr>
            </a:p>
          </p:txBody>
        </p:sp>
        <p:sp>
          <p:nvSpPr>
            <p:cNvPr id="5" name="Rectangle 4">
              <a:extLst>
                <a:ext uri="{FF2B5EF4-FFF2-40B4-BE49-F238E27FC236}">
                  <a16:creationId xmlns:a16="http://schemas.microsoft.com/office/drawing/2014/main" id="{B0B738F8-CBBB-6D78-0A30-F451AE50E5E1}"/>
                </a:ext>
              </a:extLst>
            </p:cNvPr>
            <p:cNvSpPr/>
            <p:nvPr/>
          </p:nvSpPr>
          <p:spPr>
            <a:xfrm>
              <a:off x="1442029" y="2914608"/>
              <a:ext cx="1327387"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ModuleA.lvlib</a:t>
              </a:r>
              <a:endParaRPr lang="en-US" sz="1200" b="1" dirty="0">
                <a:solidFill>
                  <a:schemeClr val="tx1"/>
                </a:solidFill>
              </a:endParaRPr>
            </a:p>
          </p:txBody>
        </p:sp>
        <p:sp>
          <p:nvSpPr>
            <p:cNvPr id="7" name="Rectangle 6">
              <a:extLst>
                <a:ext uri="{FF2B5EF4-FFF2-40B4-BE49-F238E27FC236}">
                  <a16:creationId xmlns:a16="http://schemas.microsoft.com/office/drawing/2014/main" id="{5FEFEE6B-0884-E74E-C163-E706CF39DB3D}"/>
                </a:ext>
              </a:extLst>
            </p:cNvPr>
            <p:cNvSpPr/>
            <p:nvPr/>
          </p:nvSpPr>
          <p:spPr>
            <a:xfrm>
              <a:off x="2792608" y="2028686"/>
              <a:ext cx="1130164"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ABComm.lvlib</a:t>
              </a:r>
              <a:endParaRPr lang="en-US" sz="1200" dirty="0">
                <a:solidFill>
                  <a:schemeClr val="tx1"/>
                </a:solidFill>
              </a:endParaRPr>
            </a:p>
          </p:txBody>
        </p:sp>
        <p:cxnSp>
          <p:nvCxnSpPr>
            <p:cNvPr id="9" name="Straight Arrow Connector 8">
              <a:extLst>
                <a:ext uri="{FF2B5EF4-FFF2-40B4-BE49-F238E27FC236}">
                  <a16:creationId xmlns:a16="http://schemas.microsoft.com/office/drawing/2014/main" id="{08AF681F-9316-7293-1038-5CCED07BA760}"/>
                </a:ext>
              </a:extLst>
            </p:cNvPr>
            <p:cNvCxnSpPr>
              <a:cxnSpLocks/>
              <a:stCxn id="4" idx="0"/>
              <a:endCxn id="7" idx="2"/>
            </p:cNvCxnSpPr>
            <p:nvPr/>
          </p:nvCxnSpPr>
          <p:spPr>
            <a:xfrm flipH="1" flipV="1">
              <a:off x="3357690" y="2469138"/>
              <a:ext cx="1163978" cy="445470"/>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07F7C47E-A098-3EE7-7B09-43EFA6DF7856}"/>
                </a:ext>
              </a:extLst>
            </p:cNvPr>
            <p:cNvCxnSpPr>
              <a:cxnSpLocks/>
              <a:stCxn id="5" idx="0"/>
              <a:endCxn id="7" idx="2"/>
            </p:cNvCxnSpPr>
            <p:nvPr/>
          </p:nvCxnSpPr>
          <p:spPr>
            <a:xfrm flipV="1">
              <a:off x="2105723" y="2469138"/>
              <a:ext cx="1251967" cy="445470"/>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2AB0AC1E-43F1-ADA4-FFA4-4BB1E102168B}"/>
                </a:ext>
              </a:extLst>
            </p:cNvPr>
            <p:cNvSpPr/>
            <p:nvPr/>
          </p:nvSpPr>
          <p:spPr>
            <a:xfrm>
              <a:off x="3857974" y="4004791"/>
              <a:ext cx="1332000"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StringUtilities.lvlib</a:t>
              </a:r>
              <a:endParaRPr lang="en-US" sz="1100" dirty="0">
                <a:solidFill>
                  <a:schemeClr val="tx1"/>
                </a:solidFill>
              </a:endParaRPr>
            </a:p>
          </p:txBody>
        </p:sp>
        <p:sp>
          <p:nvSpPr>
            <p:cNvPr id="25" name="Rectangle 24">
              <a:extLst>
                <a:ext uri="{FF2B5EF4-FFF2-40B4-BE49-F238E27FC236}">
                  <a16:creationId xmlns:a16="http://schemas.microsoft.com/office/drawing/2014/main" id="{2D63867C-36AB-F654-E0F4-7DB728DF0B9F}"/>
                </a:ext>
              </a:extLst>
            </p:cNvPr>
            <p:cNvSpPr/>
            <p:nvPr/>
          </p:nvSpPr>
          <p:spPr>
            <a:xfrm>
              <a:off x="1442029" y="4004791"/>
              <a:ext cx="1332000"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FileUtilities.lvlib</a:t>
              </a:r>
              <a:endParaRPr lang="en-US" sz="1100" dirty="0">
                <a:solidFill>
                  <a:schemeClr val="tx1"/>
                </a:solidFill>
              </a:endParaRPr>
            </a:p>
          </p:txBody>
        </p:sp>
        <p:cxnSp>
          <p:nvCxnSpPr>
            <p:cNvPr id="44" name="Straight Arrow Connector 43">
              <a:extLst>
                <a:ext uri="{FF2B5EF4-FFF2-40B4-BE49-F238E27FC236}">
                  <a16:creationId xmlns:a16="http://schemas.microsoft.com/office/drawing/2014/main" id="{787EA23E-EC94-689B-3CB1-3F7C7CACBD96}"/>
                </a:ext>
              </a:extLst>
            </p:cNvPr>
            <p:cNvCxnSpPr>
              <a:cxnSpLocks/>
              <a:stCxn id="5" idx="2"/>
              <a:endCxn id="25" idx="0"/>
            </p:cNvCxnSpPr>
            <p:nvPr/>
          </p:nvCxnSpPr>
          <p:spPr>
            <a:xfrm>
              <a:off x="2105723" y="3355060"/>
              <a:ext cx="2306" cy="649731"/>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97EF5D85-699A-B910-59D0-E7F347EC38E5}"/>
                </a:ext>
              </a:extLst>
            </p:cNvPr>
            <p:cNvCxnSpPr>
              <a:cxnSpLocks/>
              <a:stCxn id="4" idx="2"/>
              <a:endCxn id="24" idx="0"/>
            </p:cNvCxnSpPr>
            <p:nvPr/>
          </p:nvCxnSpPr>
          <p:spPr>
            <a:xfrm>
              <a:off x="4521668" y="3355060"/>
              <a:ext cx="2306" cy="649731"/>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grpSp>
      <p:sp>
        <p:nvSpPr>
          <p:cNvPr id="61" name="Rectangle 60">
            <a:extLst>
              <a:ext uri="{FF2B5EF4-FFF2-40B4-BE49-F238E27FC236}">
                <a16:creationId xmlns:a16="http://schemas.microsoft.com/office/drawing/2014/main" id="{332A4CE4-6D89-ECA0-D226-B13AAA4012A5}"/>
              </a:ext>
            </a:extLst>
          </p:cNvPr>
          <p:cNvSpPr/>
          <p:nvPr/>
        </p:nvSpPr>
        <p:spPr>
          <a:xfrm>
            <a:off x="6179410" y="1020175"/>
            <a:ext cx="5447813" cy="56005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200" b="1" u="sng" dirty="0"/>
              <a:t>Overview</a:t>
            </a:r>
          </a:p>
          <a:p>
            <a:pPr>
              <a:lnSpc>
                <a:spcPct val="150000"/>
              </a:lnSpc>
            </a:pPr>
            <a:r>
              <a:rPr lang="en-US" sz="1200" dirty="0"/>
              <a:t>✅ The Main.vi in Module A and Module B  are asynchronously running modules </a:t>
            </a:r>
          </a:p>
          <a:p>
            <a:pPr>
              <a:lnSpc>
                <a:spcPct val="150000"/>
              </a:lnSpc>
            </a:pPr>
            <a:r>
              <a:rPr lang="en-US" sz="1200" dirty="0"/>
              <a:t>✅ Module A can communicate to the Module B using the Communication library (</a:t>
            </a:r>
            <a:r>
              <a:rPr lang="en-US" sz="1200" dirty="0" err="1"/>
              <a:t>ABComm.lvlib</a:t>
            </a:r>
            <a:r>
              <a:rPr lang="en-US" sz="1200" dirty="0"/>
              <a:t>)</a:t>
            </a:r>
          </a:p>
          <a:p>
            <a:pPr>
              <a:lnSpc>
                <a:spcPct val="150000"/>
              </a:lnSpc>
            </a:pPr>
            <a:endParaRPr lang="en-US" sz="1200" dirty="0"/>
          </a:p>
          <a:p>
            <a:pPr>
              <a:lnSpc>
                <a:spcPct val="150000"/>
              </a:lnSpc>
            </a:pPr>
            <a:r>
              <a:rPr lang="en-US" sz="1200" b="1" u="sng" dirty="0"/>
              <a:t>Separation of Concerns</a:t>
            </a:r>
          </a:p>
          <a:p>
            <a:pPr>
              <a:lnSpc>
                <a:spcPct val="150000"/>
              </a:lnSpc>
            </a:pPr>
            <a:r>
              <a:rPr lang="en-US" sz="1200" dirty="0"/>
              <a:t>✅ Modules A and B should not directly depend on each other so that each can be independently used in a different project.</a:t>
            </a:r>
          </a:p>
          <a:p>
            <a:pPr>
              <a:lnSpc>
                <a:spcPct val="150000"/>
              </a:lnSpc>
            </a:pPr>
            <a:r>
              <a:rPr lang="en-US" sz="1200" dirty="0"/>
              <a:t>✅ Communication Libraries should not implement any functionalities using the low-level utilities.</a:t>
            </a:r>
          </a:p>
          <a:p>
            <a:pPr>
              <a:lnSpc>
                <a:spcPct val="150000"/>
              </a:lnSpc>
            </a:pPr>
            <a:r>
              <a:rPr lang="en-US" sz="1200" u="sng" dirty="0"/>
              <a:t>Note:</a:t>
            </a:r>
          </a:p>
          <a:p>
            <a:pPr marL="171450" indent="-171450">
              <a:lnSpc>
                <a:spcPct val="150000"/>
              </a:lnSpc>
              <a:buFont typeface="Arial" panose="020B0604020202020204" pitchFamily="34" charset="0"/>
              <a:buChar char="•"/>
            </a:pPr>
            <a:r>
              <a:rPr lang="en-US" sz="1200" dirty="0"/>
              <a:t>The Main.vi of modules can be run independently or a separate </a:t>
            </a:r>
            <a:r>
              <a:rPr lang="en-US" sz="1200" dirty="0" err="1"/>
              <a:t>AppLauncher.lvlib:Launcher.vi</a:t>
            </a:r>
            <a:r>
              <a:rPr lang="en-US" sz="1200" dirty="0"/>
              <a:t> can be  used to launch them.</a:t>
            </a:r>
          </a:p>
          <a:p>
            <a:pPr marL="171450" indent="-171450">
              <a:lnSpc>
                <a:spcPct val="150000"/>
              </a:lnSpc>
              <a:buFont typeface="Arial" panose="020B0604020202020204" pitchFamily="34" charset="0"/>
              <a:buChar char="•"/>
            </a:pPr>
            <a:endParaRPr lang="en-US" sz="1200" dirty="0"/>
          </a:p>
          <a:p>
            <a:pPr>
              <a:lnSpc>
                <a:spcPct val="150000"/>
              </a:lnSpc>
            </a:pPr>
            <a:r>
              <a:rPr lang="en-US" sz="1200" b="1" u="sng" dirty="0"/>
              <a:t>Developer Scenarios:</a:t>
            </a:r>
          </a:p>
          <a:p>
            <a:pPr marL="228600" indent="-228600">
              <a:lnSpc>
                <a:spcPct val="150000"/>
              </a:lnSpc>
              <a:buFont typeface="+mj-lt"/>
              <a:buAutoNum type="arabicPeriod"/>
            </a:pPr>
            <a:r>
              <a:rPr lang="en-US" sz="1200" dirty="0"/>
              <a:t>Developer uses a </a:t>
            </a:r>
            <a:r>
              <a:rPr lang="en-US" sz="1200" dirty="0" err="1"/>
              <a:t>typdef</a:t>
            </a:r>
            <a:r>
              <a:rPr lang="en-US" sz="1200" dirty="0"/>
              <a:t> from </a:t>
            </a:r>
            <a:r>
              <a:rPr lang="en-US" sz="1200" dirty="0" err="1"/>
              <a:t>ModuleB.lvlib</a:t>
            </a:r>
            <a:r>
              <a:rPr lang="en-US" sz="1200" dirty="0"/>
              <a:t> in the </a:t>
            </a:r>
            <a:r>
              <a:rPr lang="en-US" sz="1200" dirty="0" err="1"/>
              <a:t>ModuleA.lvlib</a:t>
            </a:r>
            <a:endParaRPr lang="en-US" sz="1200" dirty="0"/>
          </a:p>
          <a:p>
            <a:pPr marL="685800" lvl="1" indent="-228600">
              <a:lnSpc>
                <a:spcPct val="150000"/>
              </a:lnSpc>
              <a:buFont typeface="+mj-lt"/>
              <a:buAutoNum type="alphaLcPeriod"/>
            </a:pPr>
            <a:r>
              <a:rPr lang="en-US" sz="1200" dirty="0"/>
              <a:t>Check fails, unexpected dependency. Developer fixes this in code.</a:t>
            </a:r>
          </a:p>
          <a:p>
            <a:pPr marL="228600" indent="-228600">
              <a:lnSpc>
                <a:spcPct val="150000"/>
              </a:lnSpc>
              <a:buFont typeface="+mj-lt"/>
              <a:buAutoNum type="arabicPeriod"/>
            </a:pPr>
            <a:r>
              <a:rPr lang="en-US" sz="1200" dirty="0"/>
              <a:t>Developer uses </a:t>
            </a:r>
            <a:r>
              <a:rPr lang="en-US" sz="1200" dirty="0" err="1"/>
              <a:t>StringUtilities</a:t>
            </a:r>
            <a:r>
              <a:rPr lang="en-US" sz="1200" dirty="0"/>
              <a:t> in </a:t>
            </a:r>
            <a:r>
              <a:rPr lang="en-US" sz="1200" dirty="0" err="1"/>
              <a:t>ModuleA.lvlib</a:t>
            </a:r>
            <a:endParaRPr lang="en-US" sz="1200" dirty="0"/>
          </a:p>
          <a:p>
            <a:pPr marL="685800" lvl="1" indent="-228600">
              <a:lnSpc>
                <a:spcPct val="150000"/>
              </a:lnSpc>
              <a:buFont typeface="+mj-lt"/>
              <a:buAutoNum type="alphaLcPeriod"/>
            </a:pPr>
            <a:r>
              <a:rPr lang="en-US" sz="1200" dirty="0"/>
              <a:t>Check fails, this time Developer proposes change in </a:t>
            </a:r>
            <a:r>
              <a:rPr lang="en-US" sz="1200" dirty="0" err="1"/>
              <a:t>ModuleA.deps</a:t>
            </a:r>
            <a:r>
              <a:rPr lang="en-US" sz="1200" dirty="0"/>
              <a:t> since there is a need and it does not affect the reusability of Module.</a:t>
            </a:r>
          </a:p>
        </p:txBody>
      </p:sp>
      <p:grpSp>
        <p:nvGrpSpPr>
          <p:cNvPr id="12" name="Group 11">
            <a:extLst>
              <a:ext uri="{FF2B5EF4-FFF2-40B4-BE49-F238E27FC236}">
                <a16:creationId xmlns:a16="http://schemas.microsoft.com/office/drawing/2014/main" id="{6B51DE7D-D080-2361-29C8-F46CBB23C087}"/>
              </a:ext>
            </a:extLst>
          </p:cNvPr>
          <p:cNvGrpSpPr/>
          <p:nvPr/>
        </p:nvGrpSpPr>
        <p:grpSpPr>
          <a:xfrm>
            <a:off x="2769416" y="2857834"/>
            <a:ext cx="1088558" cy="277000"/>
            <a:chOff x="4209853" y="2419211"/>
            <a:chExt cx="1088558" cy="277000"/>
          </a:xfrm>
        </p:grpSpPr>
        <p:cxnSp>
          <p:nvCxnSpPr>
            <p:cNvPr id="3" name="Straight Arrow Connector 2">
              <a:extLst>
                <a:ext uri="{FF2B5EF4-FFF2-40B4-BE49-F238E27FC236}">
                  <a16:creationId xmlns:a16="http://schemas.microsoft.com/office/drawing/2014/main" id="{78819056-F4F8-3716-A61E-96A9A9E7F8FB}"/>
                </a:ext>
              </a:extLst>
            </p:cNvPr>
            <p:cNvCxnSpPr>
              <a:cxnSpLocks/>
              <a:stCxn id="5" idx="3"/>
              <a:endCxn id="4" idx="1"/>
            </p:cNvCxnSpPr>
            <p:nvPr/>
          </p:nvCxnSpPr>
          <p:spPr>
            <a:xfrm>
              <a:off x="4209853" y="2696211"/>
              <a:ext cx="1088558" cy="0"/>
            </a:xfrm>
            <a:prstGeom prst="straightConnector1">
              <a:avLst/>
            </a:prstGeom>
            <a:ln>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199B0B8-5C8D-FD4C-E1FE-06A874148403}"/>
                </a:ext>
              </a:extLst>
            </p:cNvPr>
            <p:cNvSpPr txBox="1"/>
            <p:nvPr/>
          </p:nvSpPr>
          <p:spPr>
            <a:xfrm>
              <a:off x="4343346" y="2419211"/>
              <a:ext cx="955065" cy="276999"/>
            </a:xfrm>
            <a:prstGeom prst="rect">
              <a:avLst/>
            </a:prstGeom>
            <a:noFill/>
          </p:spPr>
          <p:txBody>
            <a:bodyPr wrap="square" rtlCol="0">
              <a:spAutoFit/>
            </a:bodyPr>
            <a:lstStyle/>
            <a:p>
              <a:r>
                <a:rPr lang="en-IN" sz="1200" dirty="0">
                  <a:solidFill>
                    <a:srgbClr val="C00000"/>
                  </a:solidFill>
                </a:rPr>
                <a:t>Scenario 1</a:t>
              </a:r>
            </a:p>
          </p:txBody>
        </p:sp>
      </p:grpSp>
      <p:grpSp>
        <p:nvGrpSpPr>
          <p:cNvPr id="11" name="Group 10">
            <a:extLst>
              <a:ext uri="{FF2B5EF4-FFF2-40B4-BE49-F238E27FC236}">
                <a16:creationId xmlns:a16="http://schemas.microsoft.com/office/drawing/2014/main" id="{5D93651D-FAD8-95C0-D28B-14BC5D8A771B}"/>
              </a:ext>
            </a:extLst>
          </p:cNvPr>
          <p:cNvGrpSpPr/>
          <p:nvPr/>
        </p:nvGrpSpPr>
        <p:grpSpPr>
          <a:xfrm flipH="1">
            <a:off x="2105723" y="3355060"/>
            <a:ext cx="1901773" cy="869957"/>
            <a:chOff x="-683700" y="3368311"/>
            <a:chExt cx="4805868" cy="856706"/>
          </a:xfrm>
        </p:grpSpPr>
        <p:cxnSp>
          <p:nvCxnSpPr>
            <p:cNvPr id="10" name="Straight Arrow Connector 9">
              <a:extLst>
                <a:ext uri="{FF2B5EF4-FFF2-40B4-BE49-F238E27FC236}">
                  <a16:creationId xmlns:a16="http://schemas.microsoft.com/office/drawing/2014/main" id="{B158D9AE-7824-F198-A15E-AD74578BA1CB}"/>
                </a:ext>
              </a:extLst>
            </p:cNvPr>
            <p:cNvCxnSpPr>
              <a:cxnSpLocks/>
              <a:stCxn id="5" idx="2"/>
              <a:endCxn id="24" idx="1"/>
            </p:cNvCxnSpPr>
            <p:nvPr/>
          </p:nvCxnSpPr>
          <p:spPr>
            <a:xfrm flipH="1">
              <a:off x="-305851" y="3368311"/>
              <a:ext cx="4428019" cy="856706"/>
            </a:xfrm>
            <a:prstGeom prst="straightConnector1">
              <a:avLst/>
            </a:prstGeom>
            <a:ln>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7FE307B-2E5B-0D94-B0D6-49573E450A89}"/>
                </a:ext>
              </a:extLst>
            </p:cNvPr>
            <p:cNvSpPr txBox="1"/>
            <p:nvPr/>
          </p:nvSpPr>
          <p:spPr>
            <a:xfrm>
              <a:off x="-683700" y="3534214"/>
              <a:ext cx="2884027" cy="276999"/>
            </a:xfrm>
            <a:prstGeom prst="rect">
              <a:avLst/>
            </a:prstGeom>
            <a:noFill/>
          </p:spPr>
          <p:txBody>
            <a:bodyPr wrap="square" rtlCol="0">
              <a:spAutoFit/>
            </a:bodyPr>
            <a:lstStyle/>
            <a:p>
              <a:r>
                <a:rPr lang="en-IN" sz="1200" dirty="0">
                  <a:solidFill>
                    <a:srgbClr val="C00000"/>
                  </a:solidFill>
                </a:rPr>
                <a:t>Scenario 2</a:t>
              </a:r>
            </a:p>
          </p:txBody>
        </p:sp>
      </p:grpSp>
    </p:spTree>
    <p:extLst>
      <p:ext uri="{BB962C8B-B14F-4D97-AF65-F5344CB8AC3E}">
        <p14:creationId xmlns:p14="http://schemas.microsoft.com/office/powerpoint/2010/main" val="92005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1">
                                            <p:txEl>
                                              <p:pRg st="12" end="1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1">
                                            <p:txEl>
                                              <p:pRg st="13" end="1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1">
                                            <p:txEl>
                                              <p:pRg st="14" end="1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1264D-9244-DE1B-F16A-56DED926F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FF5DB-3BB4-AF67-B70E-A6C0F186DD15}"/>
              </a:ext>
            </a:extLst>
          </p:cNvPr>
          <p:cNvSpPr>
            <a:spLocks noGrp="1"/>
          </p:cNvSpPr>
          <p:nvPr>
            <p:ph type="title"/>
          </p:nvPr>
        </p:nvSpPr>
        <p:spPr>
          <a:xfrm>
            <a:off x="623047" y="185831"/>
            <a:ext cx="10515600" cy="403111"/>
          </a:xfrm>
        </p:spPr>
        <p:txBody>
          <a:bodyPr>
            <a:noAutofit/>
          </a:bodyPr>
          <a:lstStyle/>
          <a:p>
            <a:r>
              <a:rPr lang="en-US" sz="3200" dirty="0"/>
              <a:t>Example Codebase – Folder Structure</a:t>
            </a:r>
            <a:endParaRPr lang="en-IN" sz="3200" dirty="0"/>
          </a:p>
        </p:txBody>
      </p:sp>
      <p:sp>
        <p:nvSpPr>
          <p:cNvPr id="3" name="Rectangle 2">
            <a:extLst>
              <a:ext uri="{FF2B5EF4-FFF2-40B4-BE49-F238E27FC236}">
                <a16:creationId xmlns:a16="http://schemas.microsoft.com/office/drawing/2014/main" id="{F3AB1BDA-DD66-E4A2-676A-36629307DBDE}"/>
              </a:ext>
            </a:extLst>
          </p:cNvPr>
          <p:cNvSpPr/>
          <p:nvPr/>
        </p:nvSpPr>
        <p:spPr>
          <a:xfrm>
            <a:off x="723722" y="1001222"/>
            <a:ext cx="9916569" cy="4590433"/>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err="1">
                <a:solidFill>
                  <a:schemeClr val="tx1"/>
                </a:solidFill>
                <a:latin typeface="Consolas" panose="020B0609020204030204" pitchFamily="49" charset="0"/>
              </a:rPr>
              <a:t>sw</a:t>
            </a:r>
            <a:r>
              <a:rPr lang="en-US" sz="1200" dirty="0">
                <a:solidFill>
                  <a:schemeClr val="tx1"/>
                </a:solidFill>
                <a:latin typeface="Consolas" panose="020B0609020204030204" pitchFamily="49" charset="0"/>
              </a:rPr>
              <a:t>-deps-monitor/</a:t>
            </a:r>
          </a:p>
          <a:p>
            <a:r>
              <a:rPr lang="en-US" sz="1200" dirty="0">
                <a:solidFill>
                  <a:schemeClr val="tx1"/>
                </a:solidFill>
                <a:latin typeface="Consolas" panose="020B0609020204030204" pitchFamily="49" charset="0"/>
              </a:rPr>
              <a:t>├── .</a:t>
            </a:r>
            <a:r>
              <a:rPr lang="en-US" sz="1200" dirty="0" err="1">
                <a:solidFill>
                  <a:schemeClr val="tx1"/>
                </a:solidFill>
                <a:latin typeface="Consolas" panose="020B0609020204030204" pitchFamily="49" charset="0"/>
              </a:rPr>
              <a:t>github</a:t>
            </a:r>
            <a:r>
              <a:rPr lang="en-US" sz="1200" dirty="0">
                <a:solidFill>
                  <a:schemeClr val="tx1"/>
                </a:solidFill>
                <a:latin typeface="Consolas" panose="020B0609020204030204" pitchFamily="49" charset="0"/>
              </a:rPr>
              <a:t>/workflows/		#  </a:t>
            </a:r>
            <a:r>
              <a:rPr lang="en-US" sz="1200" b="1" dirty="0">
                <a:solidFill>
                  <a:schemeClr val="tx1"/>
                </a:solidFill>
                <a:latin typeface="Consolas" panose="020B0609020204030204" pitchFamily="49" charset="0"/>
              </a:rPr>
              <a:t>Folder with </a:t>
            </a:r>
            <a:r>
              <a:rPr lang="en-US" sz="1200" b="1" dirty="0" err="1">
                <a:solidFill>
                  <a:schemeClr val="tx1"/>
                </a:solidFill>
                <a:latin typeface="Consolas" panose="020B0609020204030204" pitchFamily="49" charset="0"/>
              </a:rPr>
              <a:t>github</a:t>
            </a:r>
            <a:r>
              <a:rPr lang="en-US" sz="1200" b="1" dirty="0">
                <a:solidFill>
                  <a:schemeClr val="tx1"/>
                </a:solidFill>
                <a:latin typeface="Consolas" panose="020B0609020204030204" pitchFamily="49" charset="0"/>
              </a:rPr>
              <a:t> workflows</a:t>
            </a:r>
          </a:p>
          <a:p>
            <a:r>
              <a:rPr lang="en-US" sz="1200" dirty="0">
                <a:solidFill>
                  <a:schemeClr val="tx1"/>
                </a:solidFill>
                <a:latin typeface="Consolas" panose="020B0609020204030204" pitchFamily="49" charset="0"/>
              </a:rPr>
              <a:t>├── CICD/				#  </a:t>
            </a:r>
            <a:r>
              <a:rPr lang="en-US" sz="1200" b="1" dirty="0">
                <a:solidFill>
                  <a:schemeClr val="tx1"/>
                </a:solidFill>
                <a:latin typeface="Consolas" panose="020B0609020204030204" pitchFamily="49" charset="0"/>
              </a:rPr>
              <a:t>Automated Check VIs for CICD</a:t>
            </a:r>
          </a:p>
          <a:p>
            <a:r>
              <a:rPr lang="en-US" sz="1200" dirty="0">
                <a:solidFill>
                  <a:schemeClr val="tx1"/>
                </a:solidFill>
                <a:latin typeface="Consolas" panose="020B0609020204030204" pitchFamily="49" charset="0"/>
              </a:rPr>
              <a:t>├── Source/			#  </a:t>
            </a:r>
            <a:r>
              <a:rPr lang="en-US" sz="1200" b="1" dirty="0">
                <a:solidFill>
                  <a:schemeClr val="tx1"/>
                </a:solidFill>
                <a:latin typeface="Consolas" panose="020B0609020204030204" pitchFamily="49" charset="0"/>
              </a:rPr>
              <a:t>Source Code</a:t>
            </a:r>
          </a:p>
          <a:p>
            <a:r>
              <a:rPr lang="en-US" sz="1200" dirty="0">
                <a:solidFill>
                  <a:schemeClr val="tx1"/>
                </a:solidFill>
                <a:latin typeface="Consolas" panose="020B0609020204030204" pitchFamily="49" charset="0"/>
              </a:rPr>
              <a:t>│   ├── Modules/			#  </a:t>
            </a:r>
            <a:r>
              <a:rPr lang="en-US" sz="1200" b="1" dirty="0">
                <a:solidFill>
                  <a:schemeClr val="tx1"/>
                </a:solidFill>
                <a:latin typeface="Consolas" panose="020B0609020204030204" pitchFamily="49" charset="0"/>
              </a:rPr>
              <a:t>Independent Modules</a:t>
            </a:r>
          </a:p>
          <a:p>
            <a:r>
              <a:rPr lang="en-US" sz="1200" dirty="0">
                <a:solidFill>
                  <a:schemeClr val="tx1"/>
                </a:solidFill>
                <a:latin typeface="Consolas" panose="020B0609020204030204" pitchFamily="49" charset="0"/>
              </a:rPr>
              <a:t>│   │   ├── </a:t>
            </a:r>
            <a:r>
              <a:rPr lang="en-US" sz="1200" dirty="0" err="1">
                <a:solidFill>
                  <a:schemeClr val="tx1"/>
                </a:solidFill>
                <a:latin typeface="Consolas" panose="020B0609020204030204" pitchFamily="49" charset="0"/>
              </a:rPr>
              <a:t>ModuleA</a:t>
            </a:r>
            <a:r>
              <a:rPr lang="en-US" sz="1200" dirty="0">
                <a:solidFill>
                  <a:schemeClr val="tx1"/>
                </a:solidFill>
                <a:latin typeface="Consolas" panose="020B0609020204030204" pitchFamily="49" charset="0"/>
              </a:rPr>
              <a:t>/</a:t>
            </a:r>
          </a:p>
          <a:p>
            <a:r>
              <a:rPr lang="en-US" sz="1200" dirty="0">
                <a:solidFill>
                  <a:schemeClr val="tx1"/>
                </a:solidFill>
                <a:latin typeface="Consolas" panose="020B0609020204030204" pitchFamily="49" charset="0"/>
              </a:rPr>
              <a:t>│   │   │   ├── </a:t>
            </a:r>
            <a:r>
              <a:rPr lang="en-US" sz="1200" dirty="0" err="1">
                <a:solidFill>
                  <a:schemeClr val="tx1"/>
                </a:solidFill>
                <a:latin typeface="Consolas" panose="020B0609020204030204" pitchFamily="49" charset="0"/>
              </a:rPr>
              <a:t>ModuleA.lvlib</a:t>
            </a:r>
            <a:endParaRPr lang="en-US" sz="1200" dirty="0">
              <a:solidFill>
                <a:schemeClr val="tx1"/>
              </a:solidFill>
              <a:latin typeface="Consolas" panose="020B0609020204030204" pitchFamily="49" charset="0"/>
            </a:endParaRPr>
          </a:p>
          <a:p>
            <a:r>
              <a:rPr lang="en-US" sz="1200" dirty="0">
                <a:solidFill>
                  <a:schemeClr val="tx1"/>
                </a:solidFill>
                <a:latin typeface="Consolas" panose="020B0609020204030204" pitchFamily="49" charset="0"/>
              </a:rPr>
              <a:t>│   │   │   ├── &lt;Files associated&gt;</a:t>
            </a:r>
          </a:p>
          <a:p>
            <a:r>
              <a:rPr lang="en-US" sz="1200" dirty="0">
                <a:solidFill>
                  <a:schemeClr val="tx1"/>
                </a:solidFill>
                <a:latin typeface="Consolas" panose="020B0609020204030204" pitchFamily="49" charset="0"/>
              </a:rPr>
              <a:t>│   │   ├── </a:t>
            </a:r>
            <a:r>
              <a:rPr lang="en-US" sz="1200" dirty="0" err="1">
                <a:solidFill>
                  <a:schemeClr val="tx1"/>
                </a:solidFill>
                <a:latin typeface="Consolas" panose="020B0609020204030204" pitchFamily="49" charset="0"/>
              </a:rPr>
              <a:t>ModuleB</a:t>
            </a:r>
            <a:r>
              <a:rPr lang="en-US" sz="1200" dirty="0">
                <a:solidFill>
                  <a:schemeClr val="tx1"/>
                </a:solidFill>
                <a:latin typeface="Consolas" panose="020B0609020204030204" pitchFamily="49" charset="0"/>
              </a:rPr>
              <a:t>/</a:t>
            </a:r>
          </a:p>
          <a:p>
            <a:r>
              <a:rPr lang="en-US" sz="1200" dirty="0">
                <a:solidFill>
                  <a:schemeClr val="tx1"/>
                </a:solidFill>
                <a:latin typeface="Consolas" panose="020B0609020204030204" pitchFamily="49" charset="0"/>
              </a:rPr>
              <a:t>│   │   │   ├── </a:t>
            </a:r>
            <a:r>
              <a:rPr lang="en-US" sz="1200" dirty="0" err="1">
                <a:solidFill>
                  <a:schemeClr val="tx1"/>
                </a:solidFill>
                <a:latin typeface="Consolas" panose="020B0609020204030204" pitchFamily="49" charset="0"/>
              </a:rPr>
              <a:t>ModuleB.lvlib</a:t>
            </a:r>
            <a:endParaRPr lang="en-US" sz="1200" dirty="0">
              <a:solidFill>
                <a:schemeClr val="tx1"/>
              </a:solidFill>
              <a:latin typeface="Consolas" panose="020B0609020204030204" pitchFamily="49" charset="0"/>
            </a:endParaRPr>
          </a:p>
          <a:p>
            <a:r>
              <a:rPr lang="en-US" sz="1200" dirty="0">
                <a:solidFill>
                  <a:schemeClr val="tx1"/>
                </a:solidFill>
                <a:latin typeface="Consolas" panose="020B0609020204030204" pitchFamily="49" charset="0"/>
              </a:rPr>
              <a:t>│   │   │   ├── &lt;Files associated&gt;</a:t>
            </a:r>
          </a:p>
          <a:p>
            <a:r>
              <a:rPr lang="en-US" sz="1200" dirty="0">
                <a:solidFill>
                  <a:schemeClr val="tx1"/>
                </a:solidFill>
                <a:latin typeface="Consolas" panose="020B0609020204030204" pitchFamily="49" charset="0"/>
              </a:rPr>
              <a:t>│   ├── Communication/		#  </a:t>
            </a:r>
            <a:r>
              <a:rPr lang="en-US" sz="1200" b="1" dirty="0">
                <a:solidFill>
                  <a:schemeClr val="tx1"/>
                </a:solidFill>
                <a:latin typeface="Consolas" panose="020B0609020204030204" pitchFamily="49" charset="0"/>
              </a:rPr>
              <a:t>Communication Modules to carry message between async modules</a:t>
            </a:r>
          </a:p>
          <a:p>
            <a:r>
              <a:rPr lang="en-US" sz="1200" dirty="0">
                <a:solidFill>
                  <a:schemeClr val="tx1"/>
                </a:solidFill>
                <a:latin typeface="Consolas" panose="020B0609020204030204" pitchFamily="49" charset="0"/>
              </a:rPr>
              <a:t>│   │   ├── </a:t>
            </a:r>
            <a:r>
              <a:rPr lang="en-US" sz="1200" dirty="0" err="1">
                <a:solidFill>
                  <a:schemeClr val="tx1"/>
                </a:solidFill>
                <a:latin typeface="Consolas" panose="020B0609020204030204" pitchFamily="49" charset="0"/>
              </a:rPr>
              <a:t>ABComm</a:t>
            </a:r>
            <a:r>
              <a:rPr lang="en-US" sz="1200" dirty="0">
                <a:solidFill>
                  <a:schemeClr val="tx1"/>
                </a:solidFill>
                <a:latin typeface="Consolas" panose="020B0609020204030204" pitchFamily="49" charset="0"/>
              </a:rPr>
              <a:t>/			#  </a:t>
            </a:r>
            <a:r>
              <a:rPr lang="en-US" sz="1200" b="1" dirty="0">
                <a:solidFill>
                  <a:schemeClr val="tx1"/>
                </a:solidFill>
                <a:latin typeface="Consolas" panose="020B0609020204030204" pitchFamily="49" charset="0"/>
              </a:rPr>
              <a:t>Communication Module for Module A and B</a:t>
            </a:r>
          </a:p>
          <a:p>
            <a:r>
              <a:rPr lang="en-US" sz="1200" dirty="0">
                <a:solidFill>
                  <a:schemeClr val="tx1"/>
                </a:solidFill>
                <a:latin typeface="Consolas" panose="020B0609020204030204" pitchFamily="49" charset="0"/>
              </a:rPr>
              <a:t>│   │   │   ├── </a:t>
            </a:r>
            <a:r>
              <a:rPr lang="en-US" sz="1200" dirty="0" err="1">
                <a:solidFill>
                  <a:schemeClr val="tx1"/>
                </a:solidFill>
                <a:latin typeface="Consolas" panose="020B0609020204030204" pitchFamily="49" charset="0"/>
              </a:rPr>
              <a:t>ABComm.lvlib</a:t>
            </a:r>
            <a:endParaRPr lang="en-US" sz="1200" dirty="0">
              <a:solidFill>
                <a:schemeClr val="tx1"/>
              </a:solidFill>
              <a:latin typeface="Consolas" panose="020B0609020204030204" pitchFamily="49" charset="0"/>
            </a:endParaRPr>
          </a:p>
          <a:p>
            <a:r>
              <a:rPr lang="en-US" sz="1200" dirty="0">
                <a:solidFill>
                  <a:schemeClr val="tx1"/>
                </a:solidFill>
                <a:latin typeface="Consolas" panose="020B0609020204030204" pitchFamily="49" charset="0"/>
              </a:rPr>
              <a:t>│   │   │   ├── &lt;Files associated&gt;</a:t>
            </a:r>
          </a:p>
          <a:p>
            <a:r>
              <a:rPr lang="en-US" sz="1200" dirty="0">
                <a:solidFill>
                  <a:schemeClr val="tx1"/>
                </a:solidFill>
                <a:latin typeface="Consolas" panose="020B0609020204030204" pitchFamily="49" charset="0"/>
              </a:rPr>
              <a:t>│   ├── Utilities/			#  </a:t>
            </a:r>
            <a:r>
              <a:rPr lang="en-US" sz="1200" b="1" dirty="0">
                <a:solidFill>
                  <a:schemeClr val="tx1"/>
                </a:solidFill>
                <a:latin typeface="Consolas" panose="020B0609020204030204" pitchFamily="49" charset="0"/>
              </a:rPr>
              <a:t>Low level utilities for String, File and Array operations</a:t>
            </a:r>
          </a:p>
          <a:p>
            <a:r>
              <a:rPr lang="en-US" sz="1200" dirty="0">
                <a:solidFill>
                  <a:schemeClr val="tx1"/>
                </a:solidFill>
                <a:latin typeface="Consolas" panose="020B0609020204030204" pitchFamily="49" charset="0"/>
              </a:rPr>
              <a:t>│   │   ├── </a:t>
            </a:r>
            <a:r>
              <a:rPr lang="en-US" sz="1200" dirty="0" err="1">
                <a:solidFill>
                  <a:schemeClr val="tx1"/>
                </a:solidFill>
                <a:latin typeface="Consolas" panose="020B0609020204030204" pitchFamily="49" charset="0"/>
              </a:rPr>
              <a:t>StringUtilities</a:t>
            </a:r>
            <a:r>
              <a:rPr lang="en-US" sz="1200" dirty="0">
                <a:solidFill>
                  <a:schemeClr val="tx1"/>
                </a:solidFill>
                <a:latin typeface="Consolas" panose="020B0609020204030204" pitchFamily="49" charset="0"/>
              </a:rPr>
              <a:t>/</a:t>
            </a:r>
          </a:p>
          <a:p>
            <a:r>
              <a:rPr lang="en-US" sz="1200" dirty="0">
                <a:solidFill>
                  <a:schemeClr val="tx1"/>
                </a:solidFill>
                <a:latin typeface="Consolas" panose="020B0609020204030204" pitchFamily="49" charset="0"/>
              </a:rPr>
              <a:t>│   │   │   ├── </a:t>
            </a:r>
            <a:r>
              <a:rPr lang="en-US" sz="1200" dirty="0" err="1">
                <a:solidFill>
                  <a:schemeClr val="tx1"/>
                </a:solidFill>
                <a:latin typeface="Consolas" panose="020B0609020204030204" pitchFamily="49" charset="0"/>
              </a:rPr>
              <a:t>StringUtilities.lvlib</a:t>
            </a:r>
            <a:endParaRPr lang="en-US" sz="1200" dirty="0">
              <a:solidFill>
                <a:schemeClr val="tx1"/>
              </a:solidFill>
              <a:latin typeface="Consolas" panose="020B0609020204030204" pitchFamily="49" charset="0"/>
            </a:endParaRPr>
          </a:p>
          <a:p>
            <a:r>
              <a:rPr lang="en-US" sz="1200" dirty="0">
                <a:solidFill>
                  <a:schemeClr val="tx1"/>
                </a:solidFill>
                <a:latin typeface="Consolas" panose="020B0609020204030204" pitchFamily="49" charset="0"/>
              </a:rPr>
              <a:t>│   │   │   ├── &lt;Files associated&gt;</a:t>
            </a:r>
          </a:p>
          <a:p>
            <a:r>
              <a:rPr lang="en-US" sz="1200" dirty="0">
                <a:solidFill>
                  <a:schemeClr val="tx1"/>
                </a:solidFill>
                <a:latin typeface="Consolas" panose="020B0609020204030204" pitchFamily="49" charset="0"/>
              </a:rPr>
              <a:t>│   │   ├── </a:t>
            </a:r>
            <a:r>
              <a:rPr lang="en-US" sz="1200" dirty="0" err="1">
                <a:solidFill>
                  <a:schemeClr val="tx1"/>
                </a:solidFill>
                <a:latin typeface="Consolas" panose="020B0609020204030204" pitchFamily="49" charset="0"/>
              </a:rPr>
              <a:t>FileUtilities</a:t>
            </a:r>
            <a:r>
              <a:rPr lang="en-US" sz="1200" dirty="0">
                <a:solidFill>
                  <a:schemeClr val="tx1"/>
                </a:solidFill>
                <a:latin typeface="Consolas" panose="020B0609020204030204" pitchFamily="49" charset="0"/>
              </a:rPr>
              <a:t>/</a:t>
            </a:r>
          </a:p>
          <a:p>
            <a:r>
              <a:rPr lang="en-US" sz="1200" dirty="0">
                <a:solidFill>
                  <a:schemeClr val="tx1"/>
                </a:solidFill>
                <a:latin typeface="Consolas" panose="020B0609020204030204" pitchFamily="49" charset="0"/>
              </a:rPr>
              <a:t>│   │   │   ├── </a:t>
            </a:r>
            <a:r>
              <a:rPr lang="en-US" sz="1200" dirty="0" err="1">
                <a:solidFill>
                  <a:schemeClr val="tx1"/>
                </a:solidFill>
                <a:latin typeface="Consolas" panose="020B0609020204030204" pitchFamily="49" charset="0"/>
              </a:rPr>
              <a:t>FileUtilities.lvlib</a:t>
            </a:r>
            <a:endParaRPr lang="en-US" sz="1200" dirty="0">
              <a:solidFill>
                <a:schemeClr val="tx1"/>
              </a:solidFill>
              <a:latin typeface="Consolas" panose="020B0609020204030204" pitchFamily="49" charset="0"/>
            </a:endParaRPr>
          </a:p>
          <a:p>
            <a:r>
              <a:rPr lang="en-US" sz="1200" dirty="0">
                <a:solidFill>
                  <a:schemeClr val="tx1"/>
                </a:solidFill>
                <a:latin typeface="Consolas" panose="020B0609020204030204" pitchFamily="49" charset="0"/>
              </a:rPr>
              <a:t>│   │   │   ├── &lt;Files associated&gt;</a:t>
            </a:r>
          </a:p>
        </p:txBody>
      </p:sp>
    </p:spTree>
    <p:extLst>
      <p:ext uri="{BB962C8B-B14F-4D97-AF65-F5344CB8AC3E}">
        <p14:creationId xmlns:p14="http://schemas.microsoft.com/office/powerpoint/2010/main" val="4029796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6" end="1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8" end="1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20" end="2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8EB94-75CD-E74F-70A3-20B2187C5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E79AA-3BCC-CF4C-0B03-67F3085663E8}"/>
              </a:ext>
            </a:extLst>
          </p:cNvPr>
          <p:cNvSpPr>
            <a:spLocks noGrp="1"/>
          </p:cNvSpPr>
          <p:nvPr>
            <p:ph type="title"/>
          </p:nvPr>
        </p:nvSpPr>
        <p:spPr>
          <a:xfrm>
            <a:off x="660131" y="332361"/>
            <a:ext cx="10515600" cy="553757"/>
          </a:xfrm>
        </p:spPr>
        <p:txBody>
          <a:bodyPr>
            <a:normAutofit fontScale="90000"/>
          </a:bodyPr>
          <a:lstStyle/>
          <a:p>
            <a:r>
              <a:rPr lang="en-IN" dirty="0"/>
              <a:t>Demonstration </a:t>
            </a:r>
          </a:p>
        </p:txBody>
      </p:sp>
      <p:sp>
        <p:nvSpPr>
          <p:cNvPr id="4" name="Content Placeholder 3">
            <a:extLst>
              <a:ext uri="{FF2B5EF4-FFF2-40B4-BE49-F238E27FC236}">
                <a16:creationId xmlns:a16="http://schemas.microsoft.com/office/drawing/2014/main" id="{CFD7F670-918E-ECDA-9A4A-8220B7E14AFB}"/>
              </a:ext>
            </a:extLst>
          </p:cNvPr>
          <p:cNvSpPr>
            <a:spLocks noGrp="1"/>
          </p:cNvSpPr>
          <p:nvPr>
            <p:ph idx="1"/>
          </p:nvPr>
        </p:nvSpPr>
        <p:spPr>
          <a:xfrm>
            <a:off x="836776" y="1010934"/>
            <a:ext cx="10162309" cy="4032121"/>
          </a:xfrm>
        </p:spPr>
        <p:txBody>
          <a:bodyPr vert="horz" lIns="91440" tIns="45720" rIns="91440" bIns="45720" rtlCol="0" anchor="t">
            <a:normAutofit fontScale="62500" lnSpcReduction="20000"/>
          </a:bodyPr>
          <a:lstStyle/>
          <a:p>
            <a:pPr>
              <a:lnSpc>
                <a:spcPct val="150000"/>
              </a:lnSpc>
            </a:pPr>
            <a:r>
              <a:rPr lang="en-US" dirty="0"/>
              <a:t>Setting up dependency monitoring files - expected dependencies (.deps) file and project files for each library.</a:t>
            </a:r>
          </a:p>
          <a:p>
            <a:pPr>
              <a:lnSpc>
                <a:spcPct val="150000"/>
              </a:lnSpc>
            </a:pPr>
            <a:r>
              <a:rPr lang="en-US" dirty="0"/>
              <a:t>List of tools used in CI Pipeline and CI Pipeline YAML walkthrough.</a:t>
            </a:r>
          </a:p>
          <a:p>
            <a:pPr>
              <a:lnSpc>
                <a:spcPct val="150000"/>
              </a:lnSpc>
            </a:pPr>
            <a:r>
              <a:rPr lang="en-US" dirty="0"/>
              <a:t>Manually running the dependencies check without CI Pipeline.</a:t>
            </a:r>
          </a:p>
          <a:p>
            <a:pPr>
              <a:lnSpc>
                <a:spcPct val="150000"/>
              </a:lnSpc>
            </a:pPr>
            <a:r>
              <a:rPr lang="en-US" dirty="0"/>
              <a:t>Triggering the CI Pipeline for each Pull Request. </a:t>
            </a:r>
          </a:p>
          <a:p>
            <a:pPr>
              <a:lnSpc>
                <a:spcPct val="150000"/>
              </a:lnSpc>
            </a:pPr>
            <a:r>
              <a:rPr lang="en-US" dirty="0"/>
              <a:t>Everyday Scheduled Automated Check on whole repository.</a:t>
            </a:r>
          </a:p>
          <a:p>
            <a:pPr>
              <a:lnSpc>
                <a:spcPct val="150000"/>
              </a:lnSpc>
            </a:pPr>
            <a:r>
              <a:rPr lang="en-US" dirty="0"/>
              <a:t>Consolidated Actual Dependencies List Creation </a:t>
            </a:r>
          </a:p>
          <a:p>
            <a:pPr lvl="1">
              <a:lnSpc>
                <a:spcPct val="150000"/>
              </a:lnSpc>
              <a:buFont typeface="Courier New" panose="020B0604020202020204" pitchFamily="34" charset="0"/>
              <a:buChar char="o"/>
            </a:pPr>
            <a:r>
              <a:rPr lang="en-US" dirty="0"/>
              <a:t>For easy overall review of dependencies in a repo, </a:t>
            </a:r>
            <a:endParaRPr lang="en-US" sz="2800" dirty="0"/>
          </a:p>
          <a:p>
            <a:pPr lvl="1">
              <a:lnSpc>
                <a:spcPct val="150000"/>
              </a:lnSpc>
              <a:buFont typeface="Courier New" panose="020B0604020202020204" pitchFamily="34" charset="0"/>
              <a:buChar char="o"/>
            </a:pPr>
            <a:r>
              <a:rPr lang="en-US" dirty="0"/>
              <a:t>For performing the circular dependencies check.</a:t>
            </a:r>
            <a:endParaRPr lang="en-US" sz="2800" dirty="0"/>
          </a:p>
        </p:txBody>
      </p:sp>
      <p:sp>
        <p:nvSpPr>
          <p:cNvPr id="3" name="TextBox 2">
            <a:extLst>
              <a:ext uri="{FF2B5EF4-FFF2-40B4-BE49-F238E27FC236}">
                <a16:creationId xmlns:a16="http://schemas.microsoft.com/office/drawing/2014/main" id="{6C6B05A9-DEBA-3667-EED6-02A60B6451FB}"/>
              </a:ext>
            </a:extLst>
          </p:cNvPr>
          <p:cNvSpPr txBox="1"/>
          <p:nvPr/>
        </p:nvSpPr>
        <p:spPr>
          <a:xfrm>
            <a:off x="922750" y="5043055"/>
            <a:ext cx="10432474" cy="1615827"/>
          </a:xfrm>
          <a:prstGeom prst="rect">
            <a:avLst/>
          </a:prstGeom>
          <a:noFill/>
        </p:spPr>
        <p:txBody>
          <a:bodyPr wrap="square" rtlCol="0">
            <a:spAutoFit/>
          </a:bodyPr>
          <a:lstStyle/>
          <a:p>
            <a:pPr>
              <a:lnSpc>
                <a:spcPct val="150000"/>
              </a:lnSpc>
            </a:pPr>
            <a:r>
              <a:rPr lang="en-IN" b="1" dirty="0"/>
              <a:t>Reference Links</a:t>
            </a:r>
          </a:p>
          <a:p>
            <a:pPr marL="342900" indent="-342900">
              <a:lnSpc>
                <a:spcPct val="150000"/>
              </a:lnSpc>
              <a:buFont typeface="Arial" panose="020B0604020202020204" pitchFamily="34" charset="0"/>
              <a:buChar char="•"/>
            </a:pPr>
            <a:r>
              <a:rPr lang="en-IN" dirty="0"/>
              <a:t>Repository with the Dependency monitoring setup</a:t>
            </a:r>
          </a:p>
          <a:p>
            <a:pPr marL="800100" lvl="1" indent="-342900">
              <a:lnSpc>
                <a:spcPct val="150000"/>
              </a:lnSpc>
              <a:buFont typeface="Courier New" panose="02070309020205020404" pitchFamily="49" charset="0"/>
              <a:buChar char="o"/>
            </a:pPr>
            <a:r>
              <a:rPr lang="en-IN" dirty="0">
                <a:hlinkClick r:id="rId2"/>
              </a:rPr>
              <a:t>https://github.com/karthickshanmugarao/sw-deps-monitor</a:t>
            </a:r>
            <a:endParaRPr lang="en-IN" dirty="0"/>
          </a:p>
          <a:p>
            <a:pPr marL="342900" indent="-342900">
              <a:buAutoNum type="arabicPeriod"/>
            </a:pPr>
            <a:endParaRPr lang="en-IN" dirty="0"/>
          </a:p>
        </p:txBody>
      </p:sp>
    </p:spTree>
    <p:extLst>
      <p:ext uri="{BB962C8B-B14F-4D97-AF65-F5344CB8AC3E}">
        <p14:creationId xmlns:p14="http://schemas.microsoft.com/office/powerpoint/2010/main" val="121351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E0593-1281-D250-4D5A-EC11F924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0C6B8-B221-B5BF-9AF0-26E6F520D168}"/>
              </a:ext>
            </a:extLst>
          </p:cNvPr>
          <p:cNvSpPr>
            <a:spLocks noGrp="1"/>
          </p:cNvSpPr>
          <p:nvPr>
            <p:ph type="title"/>
          </p:nvPr>
        </p:nvSpPr>
        <p:spPr>
          <a:xfrm>
            <a:off x="660131" y="332361"/>
            <a:ext cx="10515600" cy="942257"/>
          </a:xfrm>
        </p:spPr>
        <p:txBody>
          <a:bodyPr>
            <a:normAutofit/>
          </a:bodyPr>
          <a:lstStyle/>
          <a:p>
            <a:r>
              <a:rPr lang="en-IN" dirty="0"/>
              <a:t>Initial Setup</a:t>
            </a:r>
          </a:p>
        </p:txBody>
      </p:sp>
      <p:sp>
        <p:nvSpPr>
          <p:cNvPr id="4" name="Content Placeholder 3">
            <a:extLst>
              <a:ext uri="{FF2B5EF4-FFF2-40B4-BE49-F238E27FC236}">
                <a16:creationId xmlns:a16="http://schemas.microsoft.com/office/drawing/2014/main" id="{8988B3B8-5B8A-EF8A-D21A-E355ECA0B539}"/>
              </a:ext>
            </a:extLst>
          </p:cNvPr>
          <p:cNvSpPr>
            <a:spLocks noGrp="1"/>
          </p:cNvSpPr>
          <p:nvPr>
            <p:ph idx="1"/>
          </p:nvPr>
        </p:nvSpPr>
        <p:spPr>
          <a:xfrm>
            <a:off x="660131" y="1363126"/>
            <a:ext cx="10162309" cy="4868998"/>
          </a:xfrm>
        </p:spPr>
        <p:txBody>
          <a:bodyPr vert="horz" lIns="91440" tIns="45720" rIns="91440" bIns="45720" rtlCol="0" anchor="t">
            <a:normAutofit fontScale="77500" lnSpcReduction="20000"/>
          </a:bodyPr>
          <a:lstStyle/>
          <a:p>
            <a:pPr marL="800100" lvl="1" indent="-342900">
              <a:lnSpc>
                <a:spcPct val="150000"/>
              </a:lnSpc>
              <a:buAutoNum type="arabicPeriod"/>
            </a:pPr>
            <a:r>
              <a:rPr lang="en-US" dirty="0"/>
              <a:t>Prerequisites</a:t>
            </a:r>
          </a:p>
          <a:p>
            <a:pPr marL="1257300" lvl="2" indent="-342900">
              <a:lnSpc>
                <a:spcPct val="150000"/>
              </a:lnSpc>
              <a:buFont typeface="+mj-lt"/>
              <a:buAutoNum type="alphaLcPeriod"/>
            </a:pPr>
            <a:r>
              <a:rPr lang="en-US" sz="1800" dirty="0"/>
              <a:t>LabVIEW 2023 Q3 or higher</a:t>
            </a:r>
          </a:p>
          <a:p>
            <a:pPr marL="1257300" lvl="2" indent="-342900">
              <a:lnSpc>
                <a:spcPct val="150000"/>
              </a:lnSpc>
              <a:buFont typeface="+mj-lt"/>
              <a:buAutoNum type="alphaLcPeriod"/>
            </a:pPr>
            <a:r>
              <a:rPr lang="en-US" sz="1800" dirty="0"/>
              <a:t>Install the VIPM package dependencies by applying the VIPC available in the repository</a:t>
            </a:r>
          </a:p>
          <a:p>
            <a:pPr marL="1771650" lvl="3" indent="-400050">
              <a:lnSpc>
                <a:spcPct val="150000"/>
              </a:lnSpc>
              <a:buFont typeface="+mj-lt"/>
              <a:buAutoNum type="romanLcPeriod"/>
            </a:pPr>
            <a:r>
              <a:rPr lang="en-US" sz="1600" dirty="0" err="1"/>
              <a:t>sw</a:t>
            </a:r>
            <a:r>
              <a:rPr lang="en-US" sz="1600" dirty="0"/>
              <a:t>-deps-monitor\CICD/VIPC</a:t>
            </a:r>
          </a:p>
          <a:p>
            <a:pPr marL="1257300" lvl="2" indent="-342900">
              <a:lnSpc>
                <a:spcPct val="150000"/>
              </a:lnSpc>
              <a:buFont typeface="+mj-lt"/>
              <a:buAutoNum type="alphaLcPeriod"/>
            </a:pPr>
            <a:r>
              <a:rPr lang="en-US" sz="1800" dirty="0" err="1"/>
              <a:t>uv</a:t>
            </a:r>
            <a:r>
              <a:rPr lang="en-US" sz="1800" dirty="0"/>
              <a:t> for python</a:t>
            </a:r>
          </a:p>
          <a:p>
            <a:pPr marL="800100" lvl="1" indent="-342900">
              <a:lnSpc>
                <a:spcPct val="150000"/>
              </a:lnSpc>
              <a:buFont typeface="+mj-lt"/>
              <a:buAutoNum type="arabicPeriod"/>
            </a:pPr>
            <a:r>
              <a:rPr lang="en-US" sz="2200" dirty="0"/>
              <a:t>Setting up the dependency monitoring files</a:t>
            </a:r>
          </a:p>
          <a:p>
            <a:pPr marL="1257300" lvl="2" indent="-342900">
              <a:lnSpc>
                <a:spcPct val="150000"/>
              </a:lnSpc>
              <a:buFont typeface="+mj-lt"/>
              <a:buAutoNum type="alphaLcPeriod"/>
            </a:pPr>
            <a:r>
              <a:rPr lang="en-US" sz="1800" dirty="0"/>
              <a:t>Create .lvproj for each .</a:t>
            </a:r>
            <a:r>
              <a:rPr lang="en-US" sz="1800" dirty="0" err="1"/>
              <a:t>lvlib</a:t>
            </a:r>
            <a:endParaRPr lang="en-US" sz="1800" dirty="0"/>
          </a:p>
          <a:p>
            <a:pPr marL="1257300" lvl="2" indent="-342900">
              <a:lnSpc>
                <a:spcPct val="150000"/>
              </a:lnSpc>
              <a:buFont typeface="+mj-lt"/>
              <a:buAutoNum type="alphaLcPeriod"/>
            </a:pPr>
            <a:r>
              <a:rPr lang="en-US" sz="1800" dirty="0"/>
              <a:t>Create .deps file with expected dependencies defined for each .</a:t>
            </a:r>
            <a:r>
              <a:rPr lang="en-US" sz="1800" dirty="0" err="1"/>
              <a:t>lvlib</a:t>
            </a:r>
            <a:endParaRPr lang="en-US" sz="1800" dirty="0"/>
          </a:p>
          <a:p>
            <a:pPr marL="1257300" lvl="2" indent="-342900">
              <a:lnSpc>
                <a:spcPct val="150000"/>
              </a:lnSpc>
              <a:buFont typeface="+mj-lt"/>
              <a:buAutoNum type="alphaLcPeriod"/>
            </a:pPr>
            <a:r>
              <a:rPr lang="en-US" sz="1800" dirty="0"/>
              <a:t>Helper Tools available at </a:t>
            </a:r>
          </a:p>
          <a:p>
            <a:pPr marL="1771650" lvl="3" indent="-400050">
              <a:lnSpc>
                <a:spcPct val="150000"/>
              </a:lnSpc>
              <a:buFont typeface="+mj-lt"/>
              <a:buAutoNum type="romanLcPeriod"/>
            </a:pPr>
            <a:r>
              <a:rPr lang="en-US" sz="1600" dirty="0" err="1"/>
              <a:t>sw</a:t>
            </a:r>
            <a:r>
              <a:rPr lang="en-US" sz="1600" dirty="0"/>
              <a:t>-deps-monitor/CICD/</a:t>
            </a:r>
            <a:r>
              <a:rPr lang="en-US" sz="1600" dirty="0" err="1"/>
              <a:t>DevTools</a:t>
            </a:r>
            <a:endParaRPr lang="en-US" sz="1600" dirty="0"/>
          </a:p>
          <a:p>
            <a:pPr marL="857250" lvl="1" indent="-400050">
              <a:lnSpc>
                <a:spcPct val="150000"/>
              </a:lnSpc>
              <a:buFont typeface="+mj-lt"/>
              <a:buAutoNum type="arabicPeriod"/>
            </a:pPr>
            <a:r>
              <a:rPr lang="en-US" sz="2200" dirty="0"/>
              <a:t>Setup Self Hosted Runner in a VM</a:t>
            </a:r>
          </a:p>
          <a:p>
            <a:pPr marL="1314450" lvl="2" indent="-400050">
              <a:lnSpc>
                <a:spcPct val="150000"/>
              </a:lnSpc>
              <a:buFont typeface="+mj-lt"/>
              <a:buAutoNum type="alphaLcPeriod"/>
            </a:pPr>
            <a:r>
              <a:rPr lang="en-US" sz="1800" dirty="0"/>
              <a:t>Steps are described in GitHub when creating a self-hosted runner using the option,</a:t>
            </a:r>
            <a:br>
              <a:rPr lang="en-US" sz="1800" dirty="0"/>
            </a:br>
            <a:r>
              <a:rPr lang="en-US" sz="1800" dirty="0"/>
              <a:t>Repository Settings </a:t>
            </a:r>
            <a:r>
              <a:rPr lang="en-US" sz="1800" dirty="0">
                <a:sym typeface="Wingdings" panose="05000000000000000000" pitchFamily="2" charset="2"/>
              </a:rPr>
              <a:t> Actions  Runners  New self-hosted runner</a:t>
            </a:r>
            <a:endParaRPr lang="en-US" sz="1800" dirty="0"/>
          </a:p>
          <a:p>
            <a:pPr marL="1714500" lvl="3" indent="-342900">
              <a:lnSpc>
                <a:spcPct val="150000"/>
              </a:lnSpc>
              <a:buFont typeface="+mj-lt"/>
              <a:buAutoNum type="romanLcPeriod"/>
            </a:pPr>
            <a:endParaRPr lang="en-US" sz="1600" dirty="0"/>
          </a:p>
        </p:txBody>
      </p:sp>
    </p:spTree>
    <p:extLst>
      <p:ext uri="{BB962C8B-B14F-4D97-AF65-F5344CB8AC3E}">
        <p14:creationId xmlns:p14="http://schemas.microsoft.com/office/powerpoint/2010/main" val="232929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E12A8-0657-3C1D-A445-98A9EBB48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D5B43-FFCB-6618-0087-512E09FD35C5}"/>
              </a:ext>
            </a:extLst>
          </p:cNvPr>
          <p:cNvSpPr>
            <a:spLocks noGrp="1"/>
          </p:cNvSpPr>
          <p:nvPr>
            <p:ph type="title"/>
          </p:nvPr>
        </p:nvSpPr>
        <p:spPr>
          <a:xfrm>
            <a:off x="623047" y="185831"/>
            <a:ext cx="10515600" cy="403111"/>
          </a:xfrm>
        </p:spPr>
        <p:txBody>
          <a:bodyPr>
            <a:noAutofit/>
          </a:bodyPr>
          <a:lstStyle/>
          <a:p>
            <a:r>
              <a:rPr lang="en-US" sz="3200" dirty="0"/>
              <a:t>Setting up Dependency Monitoring Files</a:t>
            </a:r>
            <a:endParaRPr lang="en-IN" sz="3200" dirty="0"/>
          </a:p>
        </p:txBody>
      </p:sp>
      <p:sp>
        <p:nvSpPr>
          <p:cNvPr id="4" name="TextBox 3">
            <a:extLst>
              <a:ext uri="{FF2B5EF4-FFF2-40B4-BE49-F238E27FC236}">
                <a16:creationId xmlns:a16="http://schemas.microsoft.com/office/drawing/2014/main" id="{389A369C-260E-8914-25C3-B70A3EA41FD9}"/>
              </a:ext>
            </a:extLst>
          </p:cNvPr>
          <p:cNvSpPr txBox="1"/>
          <p:nvPr/>
        </p:nvSpPr>
        <p:spPr>
          <a:xfrm>
            <a:off x="783771" y="950686"/>
            <a:ext cx="4869543" cy="1815882"/>
          </a:xfrm>
          <a:prstGeom prst="rect">
            <a:avLst/>
          </a:prstGeom>
          <a:noFill/>
        </p:spPr>
        <p:txBody>
          <a:bodyPr wrap="square" rtlCol="0">
            <a:spAutoFit/>
          </a:bodyPr>
          <a:lstStyle/>
          <a:p>
            <a:pPr marL="342900" indent="-342900">
              <a:buAutoNum type="arabicPeriod"/>
            </a:pPr>
            <a:r>
              <a:rPr lang="en-IN" sz="1600" dirty="0"/>
              <a:t>CreateProjectsForEachLibrary.vi</a:t>
            </a:r>
          </a:p>
          <a:p>
            <a:pPr marL="800100" lvl="1" indent="-342900">
              <a:buAutoNum type="alphaLcPeriod"/>
            </a:pPr>
            <a:r>
              <a:rPr lang="en-IN" sz="1600" dirty="0"/>
              <a:t>VI to create separate lvproj for each .</a:t>
            </a:r>
            <a:r>
              <a:rPr lang="en-IN" sz="1600" dirty="0" err="1"/>
              <a:t>lvlib</a:t>
            </a:r>
            <a:r>
              <a:rPr lang="en-IN" sz="1600" dirty="0"/>
              <a:t> found in repository ‘Source’ folder.</a:t>
            </a:r>
          </a:p>
          <a:p>
            <a:pPr marL="800100" lvl="1" indent="-342900">
              <a:buFont typeface="+mj-lt"/>
              <a:buAutoNum type="alphaLcPeriod"/>
            </a:pPr>
            <a:r>
              <a:rPr lang="en-IN" sz="1600" dirty="0"/>
              <a:t>This creates the lvproj files in the folder selected ‘BuildSpecs’. </a:t>
            </a:r>
          </a:p>
          <a:p>
            <a:pPr marL="800100" lvl="1" indent="-342900">
              <a:buFont typeface="+mj-lt"/>
              <a:buAutoNum type="alphaLcPeriod"/>
            </a:pPr>
            <a:r>
              <a:rPr lang="en-IN" sz="1600" dirty="0"/>
              <a:t>Manually can be rearranged with nested folders as needed for easy navigation.</a:t>
            </a:r>
          </a:p>
        </p:txBody>
      </p:sp>
      <p:sp>
        <p:nvSpPr>
          <p:cNvPr id="7" name="TextBox 6">
            <a:extLst>
              <a:ext uri="{FF2B5EF4-FFF2-40B4-BE49-F238E27FC236}">
                <a16:creationId xmlns:a16="http://schemas.microsoft.com/office/drawing/2014/main" id="{EC985987-8643-3B30-BAD0-32B3AD737A8F}"/>
              </a:ext>
            </a:extLst>
          </p:cNvPr>
          <p:cNvSpPr txBox="1"/>
          <p:nvPr/>
        </p:nvSpPr>
        <p:spPr>
          <a:xfrm>
            <a:off x="725712" y="3897086"/>
            <a:ext cx="4869543" cy="2554545"/>
          </a:xfrm>
          <a:prstGeom prst="rect">
            <a:avLst/>
          </a:prstGeom>
          <a:noFill/>
        </p:spPr>
        <p:txBody>
          <a:bodyPr wrap="square" rtlCol="0">
            <a:spAutoFit/>
          </a:bodyPr>
          <a:lstStyle/>
          <a:p>
            <a:pPr marL="342900" indent="-342900">
              <a:buFont typeface="+mj-lt"/>
              <a:buAutoNum type="arabicPeriod" startAt="2"/>
            </a:pPr>
            <a:r>
              <a:rPr lang="en-IN" sz="1600" dirty="0"/>
              <a:t>InitializeExpDepsFilesWithActualDeps.vi</a:t>
            </a:r>
          </a:p>
          <a:p>
            <a:pPr marL="800100" lvl="1" indent="-342900">
              <a:buAutoNum type="alphaLcPeriod"/>
            </a:pPr>
            <a:r>
              <a:rPr lang="en-IN" sz="1600" dirty="0"/>
              <a:t>VI to create expected dependency files (.deps) for each. </a:t>
            </a:r>
            <a:r>
              <a:rPr lang="en-IN" sz="1600" dirty="0" err="1"/>
              <a:t>lvlib</a:t>
            </a:r>
            <a:r>
              <a:rPr lang="en-IN" sz="1600" dirty="0"/>
              <a:t> found in repository ‘Source’ folder.</a:t>
            </a:r>
          </a:p>
          <a:p>
            <a:pPr marL="800100" lvl="1" indent="-342900">
              <a:buFont typeface="+mj-lt"/>
              <a:buAutoNum type="alphaLcPeriod"/>
            </a:pPr>
            <a:r>
              <a:rPr lang="en-IN" sz="1600" dirty="0"/>
              <a:t>The expected dependency files are created with actual dependencies found in the .lvproj files.</a:t>
            </a:r>
          </a:p>
          <a:p>
            <a:pPr marL="800100" lvl="1" indent="-342900">
              <a:buFont typeface="+mj-lt"/>
              <a:buAutoNum type="alphaLcPeriod"/>
            </a:pPr>
            <a:r>
              <a:rPr lang="en-IN" sz="1600" dirty="0"/>
              <a:t>The .deps need to be reviewed and updated by the Leaders to define the expected dependencies.</a:t>
            </a:r>
          </a:p>
        </p:txBody>
      </p:sp>
      <p:pic>
        <p:nvPicPr>
          <p:cNvPr id="11" name="Picture 10">
            <a:extLst>
              <a:ext uri="{FF2B5EF4-FFF2-40B4-BE49-F238E27FC236}">
                <a16:creationId xmlns:a16="http://schemas.microsoft.com/office/drawing/2014/main" id="{724669A6-54E0-AC3F-AEFA-69A4581A7320}"/>
              </a:ext>
            </a:extLst>
          </p:cNvPr>
          <p:cNvPicPr>
            <a:picLocks noChangeAspect="1"/>
          </p:cNvPicPr>
          <p:nvPr/>
        </p:nvPicPr>
        <p:blipFill>
          <a:blip r:embed="rId2"/>
          <a:stretch>
            <a:fillRect/>
          </a:stretch>
        </p:blipFill>
        <p:spPr>
          <a:xfrm>
            <a:off x="6538688" y="927801"/>
            <a:ext cx="3331026" cy="2501199"/>
          </a:xfrm>
          <a:prstGeom prst="rect">
            <a:avLst/>
          </a:prstGeom>
        </p:spPr>
      </p:pic>
      <p:pic>
        <p:nvPicPr>
          <p:cNvPr id="17" name="Picture 16">
            <a:extLst>
              <a:ext uri="{FF2B5EF4-FFF2-40B4-BE49-F238E27FC236}">
                <a16:creationId xmlns:a16="http://schemas.microsoft.com/office/drawing/2014/main" id="{45CEF7D0-2D83-8E07-87AC-5DE7F810C7A7}"/>
              </a:ext>
            </a:extLst>
          </p:cNvPr>
          <p:cNvPicPr>
            <a:picLocks noChangeAspect="1"/>
          </p:cNvPicPr>
          <p:nvPr/>
        </p:nvPicPr>
        <p:blipFill>
          <a:blip r:embed="rId3"/>
          <a:stretch>
            <a:fillRect/>
          </a:stretch>
        </p:blipFill>
        <p:spPr>
          <a:xfrm>
            <a:off x="6538688" y="3897086"/>
            <a:ext cx="2968441" cy="2482294"/>
          </a:xfrm>
          <a:prstGeom prst="rect">
            <a:avLst/>
          </a:prstGeom>
        </p:spPr>
      </p:pic>
    </p:spTree>
    <p:extLst>
      <p:ext uri="{BB962C8B-B14F-4D97-AF65-F5344CB8AC3E}">
        <p14:creationId xmlns:p14="http://schemas.microsoft.com/office/powerpoint/2010/main" val="3472427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647E1-3014-AD66-85CF-2590B5C02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FF9BF-0D3C-A2BC-C695-989B1682BDF7}"/>
              </a:ext>
            </a:extLst>
          </p:cNvPr>
          <p:cNvSpPr>
            <a:spLocks noGrp="1"/>
          </p:cNvSpPr>
          <p:nvPr>
            <p:ph type="title"/>
          </p:nvPr>
        </p:nvSpPr>
        <p:spPr>
          <a:xfrm>
            <a:off x="623047" y="185831"/>
            <a:ext cx="10515600" cy="403111"/>
          </a:xfrm>
        </p:spPr>
        <p:txBody>
          <a:bodyPr>
            <a:noAutofit/>
          </a:bodyPr>
          <a:lstStyle/>
          <a:p>
            <a:r>
              <a:rPr lang="en-US" sz="3200" dirty="0"/>
              <a:t>Setting up Dependency Monitoring Files</a:t>
            </a:r>
            <a:endParaRPr lang="en-IN" sz="3200" dirty="0"/>
          </a:p>
        </p:txBody>
      </p:sp>
      <p:sp>
        <p:nvSpPr>
          <p:cNvPr id="3" name="Rectangle 2">
            <a:extLst>
              <a:ext uri="{FF2B5EF4-FFF2-40B4-BE49-F238E27FC236}">
                <a16:creationId xmlns:a16="http://schemas.microsoft.com/office/drawing/2014/main" id="{990CC221-8401-5252-59F2-110DA0801FB9}"/>
              </a:ext>
            </a:extLst>
          </p:cNvPr>
          <p:cNvSpPr/>
          <p:nvPr/>
        </p:nvSpPr>
        <p:spPr>
          <a:xfrm>
            <a:off x="736201" y="938780"/>
            <a:ext cx="10058982" cy="3695364"/>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err="1">
                <a:solidFill>
                  <a:schemeClr val="tx1"/>
                </a:solidFill>
                <a:latin typeface="Consolas" panose="020B0609020204030204" pitchFamily="49" charset="0"/>
              </a:rPr>
              <a:t>sw</a:t>
            </a:r>
            <a:r>
              <a:rPr lang="en-US" sz="1100" dirty="0">
                <a:solidFill>
                  <a:schemeClr val="tx1"/>
                </a:solidFill>
                <a:latin typeface="Consolas" panose="020B0609020204030204" pitchFamily="49" charset="0"/>
              </a:rPr>
              <a:t>-deps-monitor/</a:t>
            </a:r>
          </a:p>
          <a:p>
            <a:r>
              <a:rPr lang="en-US" sz="1100" dirty="0">
                <a:solidFill>
                  <a:schemeClr val="tx1"/>
                </a:solidFill>
                <a:latin typeface="Consolas" panose="020B0609020204030204" pitchFamily="49" charset="0"/>
              </a:rPr>
              <a:t>├── Source/</a:t>
            </a:r>
          </a:p>
          <a:p>
            <a:r>
              <a:rPr lang="en-US" sz="1100" dirty="0">
                <a:solidFill>
                  <a:schemeClr val="tx1"/>
                </a:solidFill>
                <a:latin typeface="Consolas" panose="020B0609020204030204" pitchFamily="49" charset="0"/>
              </a:rPr>
              <a:t>│   ├── </a:t>
            </a:r>
            <a:r>
              <a:rPr lang="en-US" sz="1100" dirty="0" err="1">
                <a:solidFill>
                  <a:schemeClr val="tx1"/>
                </a:solidFill>
                <a:latin typeface="Consolas" panose="020B0609020204030204" pitchFamily="49" charset="0"/>
              </a:rPr>
              <a:t>ActualDependencies</a:t>
            </a:r>
            <a:r>
              <a:rPr lang="en-US" sz="1100" dirty="0">
                <a:solidFill>
                  <a:schemeClr val="tx1"/>
                </a:solidFill>
                <a:latin typeface="Consolas" panose="020B0609020204030204" pitchFamily="49" charset="0"/>
              </a:rPr>
              <a:t>/ </a:t>
            </a:r>
          </a:p>
          <a:p>
            <a:r>
              <a:rPr lang="en-US" sz="1100" dirty="0">
                <a:solidFill>
                  <a:schemeClr val="tx1"/>
                </a:solidFill>
                <a:latin typeface="Consolas" panose="020B0609020204030204" pitchFamily="49" charset="0"/>
              </a:rPr>
              <a:t>│   │   ├── </a:t>
            </a:r>
            <a:r>
              <a:rPr lang="en-US" sz="1100" dirty="0" err="1">
                <a:solidFill>
                  <a:schemeClr val="tx1"/>
                </a:solidFill>
                <a:latin typeface="Consolas" panose="020B0609020204030204" pitchFamily="49" charset="0"/>
              </a:rPr>
              <a:t>ActualDepsList.adeps</a:t>
            </a:r>
            <a:r>
              <a:rPr lang="en-US" sz="1100" dirty="0">
                <a:solidFill>
                  <a:schemeClr val="tx1"/>
                </a:solidFill>
                <a:latin typeface="Consolas" panose="020B0609020204030204" pitchFamily="49" charset="0"/>
              </a:rPr>
              <a:t>		</a:t>
            </a:r>
            <a:r>
              <a:rPr lang="en-US" sz="1100" b="1" dirty="0">
                <a:solidFill>
                  <a:schemeClr val="tx1"/>
                </a:solidFill>
                <a:latin typeface="Consolas" panose="020B0609020204030204" pitchFamily="49" charset="0"/>
              </a:rPr>
              <a:t>#  This File has consolidated Actual Dependencies Mapping in repo </a:t>
            </a:r>
          </a:p>
          <a:p>
            <a:r>
              <a:rPr lang="en-US" sz="1100" dirty="0">
                <a:solidFill>
                  <a:schemeClr val="tx1"/>
                </a:solidFill>
                <a:latin typeface="Consolas" panose="020B0609020204030204" pitchFamily="49" charset="0"/>
              </a:rPr>
              <a:t>│   ├── BuildSpecs/			</a:t>
            </a:r>
            <a:r>
              <a:rPr lang="en-US" sz="1100" b="1" dirty="0">
                <a:solidFill>
                  <a:schemeClr val="tx1"/>
                </a:solidFill>
                <a:latin typeface="Consolas" panose="020B0609020204030204" pitchFamily="49" charset="0"/>
              </a:rPr>
              <a:t>#  Folder with .lvproj files and .deps files for dependency monitoring.</a:t>
            </a:r>
          </a:p>
          <a:p>
            <a:r>
              <a:rPr lang="en-US" sz="1100" dirty="0">
                <a:solidFill>
                  <a:schemeClr val="tx1"/>
                </a:solidFill>
                <a:latin typeface="Consolas" panose="020B0609020204030204" pitchFamily="49" charset="0"/>
              </a:rPr>
              <a:t>│   │   ├── Modules/			   </a:t>
            </a: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ModuleA.lvproj</a:t>
            </a:r>
            <a:r>
              <a:rPr lang="en-US" sz="1100" dirty="0">
                <a:solidFill>
                  <a:schemeClr val="tx1"/>
                </a:solidFill>
                <a:latin typeface="Consolas" panose="020B0609020204030204" pitchFamily="49" charset="0"/>
              </a:rPr>
              <a:t> 		   Note: The folder name is BuildSpecs since the same lvproj files which</a:t>
            </a: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ModuleA.deps</a:t>
            </a:r>
            <a:r>
              <a:rPr lang="en-US" sz="1100" dirty="0">
                <a:solidFill>
                  <a:schemeClr val="tx1"/>
                </a:solidFill>
                <a:latin typeface="Consolas" panose="020B0609020204030204" pitchFamily="49" charset="0"/>
              </a:rPr>
              <a:t>		   are used to read actual dependencies can also be used to </a:t>
            </a: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ModuleB.lvproj</a:t>
            </a:r>
            <a:r>
              <a:rPr lang="en-US" sz="1100" dirty="0">
                <a:solidFill>
                  <a:schemeClr val="tx1"/>
                </a:solidFill>
                <a:latin typeface="Consolas" panose="020B0609020204030204" pitchFamily="49" charset="0"/>
              </a:rPr>
              <a:t>		   maintain the build specifications for libraries.</a:t>
            </a: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ModuleB.lvproj</a:t>
            </a:r>
            <a:endParaRPr lang="en-US" sz="1100" dirty="0">
              <a:solidFill>
                <a:schemeClr val="tx1"/>
              </a:solidFill>
              <a:latin typeface="Consolas" panose="020B0609020204030204" pitchFamily="49" charset="0"/>
            </a:endParaRP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ModuleB.deps</a:t>
            </a:r>
            <a:endParaRPr lang="en-US" sz="1100" dirty="0">
              <a:solidFill>
                <a:schemeClr val="tx1"/>
              </a:solidFill>
              <a:latin typeface="Consolas" panose="020B0609020204030204" pitchFamily="49" charset="0"/>
            </a:endParaRPr>
          </a:p>
          <a:p>
            <a:r>
              <a:rPr lang="en-US" sz="1100" dirty="0">
                <a:solidFill>
                  <a:schemeClr val="tx1"/>
                </a:solidFill>
                <a:latin typeface="Consolas" panose="020B0609020204030204" pitchFamily="49" charset="0"/>
              </a:rPr>
              <a:t>│   │   ├── Communication/</a:t>
            </a: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ABComm.lvproj</a:t>
            </a:r>
            <a:endParaRPr lang="en-US" sz="1100" dirty="0">
              <a:solidFill>
                <a:schemeClr val="tx1"/>
              </a:solidFill>
              <a:latin typeface="Consolas" panose="020B0609020204030204" pitchFamily="49" charset="0"/>
            </a:endParaRP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ABComm.deps</a:t>
            </a:r>
            <a:endParaRPr lang="en-US" sz="1100" dirty="0">
              <a:solidFill>
                <a:schemeClr val="tx1"/>
              </a:solidFill>
              <a:latin typeface="Consolas" panose="020B0609020204030204" pitchFamily="49" charset="0"/>
            </a:endParaRPr>
          </a:p>
          <a:p>
            <a:r>
              <a:rPr lang="en-US" sz="1100" dirty="0">
                <a:solidFill>
                  <a:schemeClr val="tx1"/>
                </a:solidFill>
                <a:latin typeface="Consolas" panose="020B0609020204030204" pitchFamily="49" charset="0"/>
              </a:rPr>
              <a:t>│   │   ├── Utilities/</a:t>
            </a: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StringUtilities.lvproj</a:t>
            </a:r>
            <a:endParaRPr lang="en-US" sz="1100" dirty="0">
              <a:solidFill>
                <a:schemeClr val="tx1"/>
              </a:solidFill>
              <a:latin typeface="Consolas" panose="020B0609020204030204" pitchFamily="49" charset="0"/>
            </a:endParaRP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StringUtilities.deps</a:t>
            </a:r>
            <a:endParaRPr lang="en-US" sz="1100" dirty="0">
              <a:solidFill>
                <a:schemeClr val="tx1"/>
              </a:solidFill>
              <a:latin typeface="Consolas" panose="020B0609020204030204" pitchFamily="49" charset="0"/>
            </a:endParaRP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FileUtilities.lvproj</a:t>
            </a:r>
            <a:endParaRPr lang="en-US" sz="1100" dirty="0">
              <a:solidFill>
                <a:schemeClr val="tx1"/>
              </a:solidFill>
              <a:latin typeface="Consolas" panose="020B0609020204030204" pitchFamily="49" charset="0"/>
            </a:endParaRPr>
          </a:p>
          <a:p>
            <a:r>
              <a:rPr lang="en-US" sz="1100" dirty="0">
                <a:solidFill>
                  <a:schemeClr val="tx1"/>
                </a:solidFill>
                <a:latin typeface="Consolas" panose="020B0609020204030204" pitchFamily="49" charset="0"/>
              </a:rPr>
              <a:t>│   │   │   ├── </a:t>
            </a:r>
            <a:r>
              <a:rPr lang="en-US" sz="1100" dirty="0" err="1">
                <a:solidFill>
                  <a:schemeClr val="tx1"/>
                </a:solidFill>
                <a:latin typeface="Consolas" panose="020B0609020204030204" pitchFamily="49" charset="0"/>
              </a:rPr>
              <a:t>FileUtilities.deps</a:t>
            </a:r>
            <a:endParaRPr lang="en-US" sz="11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422632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AC512-BC76-03DE-0E51-37B9146DD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DF6AB-414C-DBB1-4F8B-063A7DA594B2}"/>
              </a:ext>
            </a:extLst>
          </p:cNvPr>
          <p:cNvSpPr>
            <a:spLocks noGrp="1"/>
          </p:cNvSpPr>
          <p:nvPr>
            <p:ph type="title"/>
          </p:nvPr>
        </p:nvSpPr>
        <p:spPr>
          <a:xfrm>
            <a:off x="623047" y="185831"/>
            <a:ext cx="10515600" cy="403111"/>
          </a:xfrm>
        </p:spPr>
        <p:txBody>
          <a:bodyPr>
            <a:noAutofit/>
          </a:bodyPr>
          <a:lstStyle/>
          <a:p>
            <a:r>
              <a:rPr lang="en-US" sz="3200" dirty="0"/>
              <a:t>Setting up Dependency Monitoring Files</a:t>
            </a:r>
            <a:endParaRPr lang="en-IN" sz="3200" dirty="0"/>
          </a:p>
        </p:txBody>
      </p:sp>
      <p:sp>
        <p:nvSpPr>
          <p:cNvPr id="4" name="TextBox 3">
            <a:extLst>
              <a:ext uri="{FF2B5EF4-FFF2-40B4-BE49-F238E27FC236}">
                <a16:creationId xmlns:a16="http://schemas.microsoft.com/office/drawing/2014/main" id="{CFE78BEC-4BAD-443B-E447-75CFDC10856D}"/>
              </a:ext>
            </a:extLst>
          </p:cNvPr>
          <p:cNvSpPr txBox="1"/>
          <p:nvPr/>
        </p:nvSpPr>
        <p:spPr>
          <a:xfrm>
            <a:off x="6795655" y="921328"/>
            <a:ext cx="4890654" cy="5586145"/>
          </a:xfrm>
          <a:prstGeom prst="rect">
            <a:avLst/>
          </a:prstGeom>
          <a:noFill/>
        </p:spPr>
        <p:txBody>
          <a:bodyPr wrap="square" rtlCol="0">
            <a:spAutoFit/>
          </a:bodyPr>
          <a:lstStyle/>
          <a:p>
            <a:r>
              <a:rPr lang="en-IN" b="1" dirty="0"/>
              <a:t>Default Path Configurations – Need not be changed if same folder names are used</a:t>
            </a:r>
          </a:p>
          <a:p>
            <a:endParaRPr lang="en-IN" b="1" dirty="0"/>
          </a:p>
          <a:p>
            <a:r>
              <a:rPr lang="en-IN" dirty="0"/>
              <a:t>The automation VIs and python scripts use these configurations.</a:t>
            </a:r>
          </a:p>
          <a:p>
            <a:endParaRPr lang="en-IN" dirty="0"/>
          </a:p>
          <a:p>
            <a:pPr marL="342900" indent="-342900">
              <a:spcAft>
                <a:spcPts val="600"/>
              </a:spcAft>
              <a:buAutoNum type="arabicPeriod"/>
            </a:pPr>
            <a:r>
              <a:rPr lang="en-IN" dirty="0"/>
              <a:t>SourceFolderPaths – Relative Paths to the folders which contain the source code. Automation checks for the </a:t>
            </a:r>
            <a:r>
              <a:rPr lang="en-IN" dirty="0" err="1"/>
              <a:t>lvlib</a:t>
            </a:r>
            <a:r>
              <a:rPr lang="en-IN" dirty="0"/>
              <a:t> files in these folders for Dependency Checks.</a:t>
            </a:r>
          </a:p>
          <a:p>
            <a:pPr marL="342900" indent="-342900">
              <a:spcAft>
                <a:spcPts val="600"/>
              </a:spcAft>
              <a:buAutoNum type="arabicPeriod"/>
            </a:pPr>
            <a:r>
              <a:rPr lang="en-IN" dirty="0"/>
              <a:t>BuildSpecsIncludePaths – Source\BuildSpecs – This is the folder where we have the .lvproj files and .deps files</a:t>
            </a:r>
          </a:p>
          <a:p>
            <a:pPr marL="342900" indent="-342900">
              <a:spcAft>
                <a:spcPts val="600"/>
              </a:spcAft>
              <a:buAutoNum type="arabicPeriod"/>
            </a:pPr>
            <a:r>
              <a:rPr lang="en-IN" dirty="0"/>
              <a:t>ActualDepsIncludePaths – This folder contains the consolidated ActualDepsList.adeps file.</a:t>
            </a:r>
          </a:p>
          <a:p>
            <a:pPr marL="342900" indent="-342900">
              <a:spcAft>
                <a:spcPts val="600"/>
              </a:spcAft>
              <a:buAutoNum type="arabicPeriod"/>
            </a:pPr>
            <a:r>
              <a:rPr lang="en-IN" dirty="0"/>
              <a:t>ChangedFilesLogs – These are internally used by python scripts and few automation Vis to list the </a:t>
            </a:r>
            <a:r>
              <a:rPr lang="en-IN" dirty="0" err="1"/>
              <a:t>changed_files</a:t>
            </a:r>
            <a:r>
              <a:rPr lang="en-IN" dirty="0"/>
              <a:t> in a PR.</a:t>
            </a:r>
          </a:p>
        </p:txBody>
      </p:sp>
      <p:pic>
        <p:nvPicPr>
          <p:cNvPr id="6" name="Picture 5">
            <a:extLst>
              <a:ext uri="{FF2B5EF4-FFF2-40B4-BE49-F238E27FC236}">
                <a16:creationId xmlns:a16="http://schemas.microsoft.com/office/drawing/2014/main" id="{D0B6743E-42AB-8029-A010-51C306DE02CB}"/>
              </a:ext>
            </a:extLst>
          </p:cNvPr>
          <p:cNvPicPr>
            <a:picLocks noChangeAspect="1"/>
          </p:cNvPicPr>
          <p:nvPr/>
        </p:nvPicPr>
        <p:blipFill>
          <a:blip r:embed="rId2"/>
          <a:stretch>
            <a:fillRect/>
          </a:stretch>
        </p:blipFill>
        <p:spPr>
          <a:xfrm>
            <a:off x="420980" y="921328"/>
            <a:ext cx="6180712" cy="3253938"/>
          </a:xfrm>
          <a:prstGeom prst="rect">
            <a:avLst/>
          </a:prstGeom>
        </p:spPr>
      </p:pic>
    </p:spTree>
    <p:extLst>
      <p:ext uri="{BB962C8B-B14F-4D97-AF65-F5344CB8AC3E}">
        <p14:creationId xmlns:p14="http://schemas.microsoft.com/office/powerpoint/2010/main" val="2909498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5B40-A48A-8F43-9B60-928351BC9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3813D-DEED-A43D-9900-855BF4CDB87F}"/>
              </a:ext>
            </a:extLst>
          </p:cNvPr>
          <p:cNvSpPr>
            <a:spLocks noGrp="1"/>
          </p:cNvSpPr>
          <p:nvPr>
            <p:ph type="title"/>
          </p:nvPr>
        </p:nvSpPr>
        <p:spPr>
          <a:xfrm>
            <a:off x="660130" y="79347"/>
            <a:ext cx="10515600" cy="942257"/>
          </a:xfrm>
        </p:spPr>
        <p:txBody>
          <a:bodyPr>
            <a:normAutofit/>
          </a:bodyPr>
          <a:lstStyle/>
          <a:p>
            <a:r>
              <a:rPr lang="en-IN" dirty="0"/>
              <a:t>Demonstration</a:t>
            </a:r>
          </a:p>
        </p:txBody>
      </p:sp>
      <p:sp>
        <p:nvSpPr>
          <p:cNvPr id="4" name="Content Placeholder 3">
            <a:extLst>
              <a:ext uri="{FF2B5EF4-FFF2-40B4-BE49-F238E27FC236}">
                <a16:creationId xmlns:a16="http://schemas.microsoft.com/office/drawing/2014/main" id="{72421547-AB10-F0A3-F8C0-EC15674B7A4B}"/>
              </a:ext>
            </a:extLst>
          </p:cNvPr>
          <p:cNvSpPr>
            <a:spLocks noGrp="1"/>
          </p:cNvSpPr>
          <p:nvPr>
            <p:ph idx="1"/>
          </p:nvPr>
        </p:nvSpPr>
        <p:spPr>
          <a:xfrm>
            <a:off x="836775" y="981387"/>
            <a:ext cx="10162309" cy="3650673"/>
          </a:xfrm>
        </p:spPr>
        <p:txBody>
          <a:bodyPr vert="horz" lIns="91440" tIns="45720" rIns="91440" bIns="45720" rtlCol="0" anchor="t">
            <a:normAutofit fontScale="85000" lnSpcReduction="10000"/>
          </a:bodyPr>
          <a:lstStyle/>
          <a:p>
            <a:pPr marL="457200" indent="-457200">
              <a:lnSpc>
                <a:spcPct val="150000"/>
              </a:lnSpc>
              <a:buFont typeface="+mj-lt"/>
              <a:buAutoNum type="arabicPeriod"/>
            </a:pPr>
            <a:r>
              <a:rPr lang="en-US" sz="2000" dirty="0"/>
              <a:t>Manually running dependency check without CI Pipeline.</a:t>
            </a:r>
          </a:p>
          <a:p>
            <a:pPr lvl="1">
              <a:lnSpc>
                <a:spcPct val="150000"/>
              </a:lnSpc>
            </a:pPr>
            <a:r>
              <a:rPr lang="en-US" sz="1800" dirty="0"/>
              <a:t>g-cli -v --lv-</a:t>
            </a:r>
            <a:r>
              <a:rPr lang="en-US" sz="1800" dirty="0" err="1"/>
              <a:t>ver</a:t>
            </a:r>
            <a:r>
              <a:rPr lang="en-US" sz="1800" dirty="0"/>
              <a:t> 2023 --arch 32 "C:\sw-deps-monitor\CICD\AutomatedChecks\UnexpectedDepsCheck.vi" -- "C:\sw-deps-monitor" "False"</a:t>
            </a:r>
          </a:p>
          <a:p>
            <a:pPr marL="457200" indent="-457200">
              <a:lnSpc>
                <a:spcPct val="150000"/>
              </a:lnSpc>
              <a:buFont typeface="+mj-lt"/>
              <a:buAutoNum type="arabicPeriod"/>
            </a:pPr>
            <a:r>
              <a:rPr lang="en-US" sz="2000" dirty="0"/>
              <a:t>Triggering the CI Pipeline for each PR. This checks only the libraries modified in a PR.</a:t>
            </a:r>
          </a:p>
          <a:p>
            <a:pPr lvl="1">
              <a:lnSpc>
                <a:spcPct val="150000"/>
              </a:lnSpc>
            </a:pPr>
            <a:r>
              <a:rPr lang="en-US" sz="1600" dirty="0"/>
              <a:t>Add a label ‘RunCI’ in the PR to trigger the CI Pipeline.</a:t>
            </a:r>
          </a:p>
          <a:p>
            <a:pPr lvl="1">
              <a:lnSpc>
                <a:spcPct val="150000"/>
              </a:lnSpc>
            </a:pPr>
            <a:r>
              <a:rPr lang="en-US" sz="1600" dirty="0"/>
              <a:t>This helps avoid unnecessary runs on every commit or push.</a:t>
            </a:r>
          </a:p>
          <a:p>
            <a:pPr lvl="1">
              <a:lnSpc>
                <a:spcPct val="150000"/>
              </a:lnSpc>
            </a:pPr>
            <a:endParaRPr lang="en-US" sz="1600" dirty="0"/>
          </a:p>
          <a:p>
            <a:pPr lvl="1">
              <a:lnSpc>
                <a:spcPct val="150000"/>
              </a:lnSpc>
            </a:pPr>
            <a:endParaRPr lang="en-US" sz="1600" dirty="0"/>
          </a:p>
          <a:p>
            <a:pPr marL="457200" indent="-457200">
              <a:lnSpc>
                <a:spcPct val="150000"/>
              </a:lnSpc>
              <a:buFont typeface="+mj-lt"/>
              <a:buAutoNum type="arabicPeriod"/>
            </a:pPr>
            <a:r>
              <a:rPr lang="en-US" sz="2000" dirty="0"/>
              <a:t>Triggering the CI Pipeline for all the libraries in repository.  This is also configured to run everyday.</a:t>
            </a:r>
          </a:p>
          <a:p>
            <a:pPr lvl="1">
              <a:lnSpc>
                <a:spcPct val="150000"/>
              </a:lnSpc>
            </a:pPr>
            <a:endParaRPr lang="en-US" sz="1600" dirty="0"/>
          </a:p>
        </p:txBody>
      </p:sp>
      <p:pic>
        <p:nvPicPr>
          <p:cNvPr id="6" name="Picture 5">
            <a:extLst>
              <a:ext uri="{FF2B5EF4-FFF2-40B4-BE49-F238E27FC236}">
                <a16:creationId xmlns:a16="http://schemas.microsoft.com/office/drawing/2014/main" id="{244549E6-D3BC-6FE5-DF41-292C850D6505}"/>
              </a:ext>
            </a:extLst>
          </p:cNvPr>
          <p:cNvPicPr>
            <a:picLocks noChangeAspect="1"/>
          </p:cNvPicPr>
          <p:nvPr/>
        </p:nvPicPr>
        <p:blipFill>
          <a:blip r:embed="rId2"/>
          <a:stretch>
            <a:fillRect/>
          </a:stretch>
        </p:blipFill>
        <p:spPr>
          <a:xfrm>
            <a:off x="1639440" y="3304713"/>
            <a:ext cx="2977321" cy="740248"/>
          </a:xfrm>
          <a:prstGeom prst="rect">
            <a:avLst/>
          </a:prstGeom>
        </p:spPr>
      </p:pic>
      <p:pic>
        <p:nvPicPr>
          <p:cNvPr id="8" name="Picture 7">
            <a:extLst>
              <a:ext uri="{FF2B5EF4-FFF2-40B4-BE49-F238E27FC236}">
                <a16:creationId xmlns:a16="http://schemas.microsoft.com/office/drawing/2014/main" id="{1D2871FB-92D5-0391-1827-CCE32DDF5A9F}"/>
              </a:ext>
            </a:extLst>
          </p:cNvPr>
          <p:cNvPicPr>
            <a:picLocks noChangeAspect="1"/>
          </p:cNvPicPr>
          <p:nvPr/>
        </p:nvPicPr>
        <p:blipFill>
          <a:blip r:embed="rId3"/>
          <a:stretch>
            <a:fillRect/>
          </a:stretch>
        </p:blipFill>
        <p:spPr>
          <a:xfrm>
            <a:off x="1639440" y="4578490"/>
            <a:ext cx="4437421" cy="1911219"/>
          </a:xfrm>
          <a:prstGeom prst="rect">
            <a:avLst/>
          </a:prstGeom>
        </p:spPr>
      </p:pic>
    </p:spTree>
    <p:extLst>
      <p:ext uri="{BB962C8B-B14F-4D97-AF65-F5344CB8AC3E}">
        <p14:creationId xmlns:p14="http://schemas.microsoft.com/office/powerpoint/2010/main" val="22878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C2809-ABAD-1951-DB80-940B92CAA188}"/>
              </a:ext>
            </a:extLst>
          </p:cNvPr>
          <p:cNvSpPr>
            <a:spLocks noGrp="1"/>
          </p:cNvSpPr>
          <p:nvPr>
            <p:ph type="title"/>
          </p:nvPr>
        </p:nvSpPr>
        <p:spPr>
          <a:xfrm>
            <a:off x="614082" y="167901"/>
            <a:ext cx="10515600" cy="553757"/>
          </a:xfrm>
        </p:spPr>
        <p:txBody>
          <a:bodyPr>
            <a:normAutofit fontScale="90000"/>
          </a:bodyPr>
          <a:lstStyle/>
          <a:p>
            <a:r>
              <a:rPr lang="en-IN" dirty="0"/>
              <a:t>Demonstration – Sample Failure in CI Pipeline</a:t>
            </a:r>
          </a:p>
        </p:txBody>
      </p:sp>
      <p:pic>
        <p:nvPicPr>
          <p:cNvPr id="5" name="Content Placeholder 4">
            <a:extLst>
              <a:ext uri="{FF2B5EF4-FFF2-40B4-BE49-F238E27FC236}">
                <a16:creationId xmlns:a16="http://schemas.microsoft.com/office/drawing/2014/main" id="{F887C35A-EC39-B756-CDA7-70D7135FE098}"/>
              </a:ext>
            </a:extLst>
          </p:cNvPr>
          <p:cNvPicPr>
            <a:picLocks noGrp="1" noChangeAspect="1"/>
          </p:cNvPicPr>
          <p:nvPr>
            <p:ph idx="1"/>
          </p:nvPr>
        </p:nvPicPr>
        <p:blipFill>
          <a:blip r:embed="rId2"/>
          <a:srcRect l="17069" b="19595"/>
          <a:stretch>
            <a:fillRect/>
          </a:stretch>
        </p:blipFill>
        <p:spPr>
          <a:xfrm>
            <a:off x="353903" y="835025"/>
            <a:ext cx="11484194" cy="5552328"/>
          </a:xfrm>
          <a:prstGeom prst="rect">
            <a:avLst/>
          </a:prstGeom>
        </p:spPr>
      </p:pic>
      <p:grpSp>
        <p:nvGrpSpPr>
          <p:cNvPr id="8" name="Group 7">
            <a:extLst>
              <a:ext uri="{FF2B5EF4-FFF2-40B4-BE49-F238E27FC236}">
                <a16:creationId xmlns:a16="http://schemas.microsoft.com/office/drawing/2014/main" id="{050EC076-7109-4093-4B8A-21D12FDE1404}"/>
              </a:ext>
            </a:extLst>
          </p:cNvPr>
          <p:cNvGrpSpPr/>
          <p:nvPr/>
        </p:nvGrpSpPr>
        <p:grpSpPr>
          <a:xfrm>
            <a:off x="353903" y="835025"/>
            <a:ext cx="11484194" cy="5552328"/>
            <a:chOff x="614082" y="835025"/>
            <a:chExt cx="11134363" cy="5552328"/>
          </a:xfrm>
        </p:grpSpPr>
        <p:sp>
          <p:nvSpPr>
            <p:cNvPr id="6" name="Rectangle 5">
              <a:extLst>
                <a:ext uri="{FF2B5EF4-FFF2-40B4-BE49-F238E27FC236}">
                  <a16:creationId xmlns:a16="http://schemas.microsoft.com/office/drawing/2014/main" id="{41DCCEAE-89C2-7C9B-00F2-CED4515F7588}"/>
                </a:ext>
              </a:extLst>
            </p:cNvPr>
            <p:cNvSpPr/>
            <p:nvPr/>
          </p:nvSpPr>
          <p:spPr>
            <a:xfrm>
              <a:off x="866334" y="4263125"/>
              <a:ext cx="2091126" cy="170125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C4099A29-90CF-5BFF-223D-79E16852CB32}"/>
                </a:ext>
              </a:extLst>
            </p:cNvPr>
            <p:cNvSpPr/>
            <p:nvPr/>
          </p:nvSpPr>
          <p:spPr>
            <a:xfrm>
              <a:off x="614082" y="835025"/>
              <a:ext cx="11134363" cy="55523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899564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20CA7-85F6-B368-6C5D-2ABAB656C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902BD-506F-F3F9-F16A-F9C55AFE5EBC}"/>
              </a:ext>
            </a:extLst>
          </p:cNvPr>
          <p:cNvSpPr>
            <a:spLocks noGrp="1"/>
          </p:cNvSpPr>
          <p:nvPr>
            <p:ph type="title"/>
          </p:nvPr>
        </p:nvSpPr>
        <p:spPr>
          <a:xfrm>
            <a:off x="614082" y="167901"/>
            <a:ext cx="10515600" cy="553757"/>
          </a:xfrm>
        </p:spPr>
        <p:txBody>
          <a:bodyPr>
            <a:normAutofit fontScale="90000"/>
          </a:bodyPr>
          <a:lstStyle/>
          <a:p>
            <a:r>
              <a:rPr lang="en-IN" dirty="0"/>
              <a:t>Demonstration – Merge Blocked by CI Pipeline</a:t>
            </a:r>
          </a:p>
        </p:txBody>
      </p:sp>
      <p:pic>
        <p:nvPicPr>
          <p:cNvPr id="6" name="Picture 5">
            <a:extLst>
              <a:ext uri="{FF2B5EF4-FFF2-40B4-BE49-F238E27FC236}">
                <a16:creationId xmlns:a16="http://schemas.microsoft.com/office/drawing/2014/main" id="{EA69DFD6-332A-5FF9-8CDA-274998E4D9BB}"/>
              </a:ext>
            </a:extLst>
          </p:cNvPr>
          <p:cNvPicPr>
            <a:picLocks noChangeAspect="1"/>
          </p:cNvPicPr>
          <p:nvPr/>
        </p:nvPicPr>
        <p:blipFill>
          <a:blip r:embed="rId2"/>
          <a:stretch>
            <a:fillRect/>
          </a:stretch>
        </p:blipFill>
        <p:spPr>
          <a:xfrm>
            <a:off x="737884" y="899485"/>
            <a:ext cx="9285879" cy="5583962"/>
          </a:xfrm>
          <a:prstGeom prst="rect">
            <a:avLst/>
          </a:prstGeom>
        </p:spPr>
      </p:pic>
    </p:spTree>
    <p:extLst>
      <p:ext uri="{BB962C8B-B14F-4D97-AF65-F5344CB8AC3E}">
        <p14:creationId xmlns:p14="http://schemas.microsoft.com/office/powerpoint/2010/main" val="2819880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A1CA0-21CD-BAC7-9DAB-A3CDA6043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5768D-3B64-E0EB-AE3D-8A99EA6C84A9}"/>
              </a:ext>
            </a:extLst>
          </p:cNvPr>
          <p:cNvSpPr>
            <a:spLocks noGrp="1"/>
          </p:cNvSpPr>
          <p:nvPr>
            <p:ph type="title"/>
          </p:nvPr>
        </p:nvSpPr>
        <p:spPr>
          <a:xfrm>
            <a:off x="627743" y="238785"/>
            <a:ext cx="10515600" cy="512989"/>
          </a:xfrm>
        </p:spPr>
        <p:txBody>
          <a:bodyPr>
            <a:normAutofit fontScale="90000"/>
          </a:bodyPr>
          <a:lstStyle/>
          <a:p>
            <a:r>
              <a:rPr lang="en-IN" dirty="0"/>
              <a:t>List of Available YMLs</a:t>
            </a:r>
          </a:p>
        </p:txBody>
      </p:sp>
      <p:graphicFrame>
        <p:nvGraphicFramePr>
          <p:cNvPr id="6" name="Content Placeholder 5">
            <a:extLst>
              <a:ext uri="{FF2B5EF4-FFF2-40B4-BE49-F238E27FC236}">
                <a16:creationId xmlns:a16="http://schemas.microsoft.com/office/drawing/2014/main" id="{38220C76-8BC1-9235-6F66-0AB3C5CBB94E}"/>
              </a:ext>
            </a:extLst>
          </p:cNvPr>
          <p:cNvGraphicFramePr>
            <a:graphicFrameLocks noGrp="1"/>
          </p:cNvGraphicFramePr>
          <p:nvPr>
            <p:ph idx="1"/>
            <p:extLst>
              <p:ext uri="{D42A27DB-BD31-4B8C-83A1-F6EECF244321}">
                <p14:modId xmlns:p14="http://schemas.microsoft.com/office/powerpoint/2010/main" val="3471445008"/>
              </p:ext>
            </p:extLst>
          </p:nvPr>
        </p:nvGraphicFramePr>
        <p:xfrm>
          <a:off x="627746" y="867682"/>
          <a:ext cx="10515597" cy="3937000"/>
        </p:xfrm>
        <a:graphic>
          <a:graphicData uri="http://schemas.openxmlformats.org/drawingml/2006/table">
            <a:tbl>
              <a:tblPr firstRow="1" bandRow="1">
                <a:tableStyleId>{5C22544A-7EE6-4342-B048-85BDC9FD1C3A}</a:tableStyleId>
              </a:tblPr>
              <a:tblGrid>
                <a:gridCol w="852714">
                  <a:extLst>
                    <a:ext uri="{9D8B030D-6E8A-4147-A177-3AD203B41FA5}">
                      <a16:colId xmlns:a16="http://schemas.microsoft.com/office/drawing/2014/main" val="327423408"/>
                    </a:ext>
                  </a:extLst>
                </a:gridCol>
                <a:gridCol w="2336797">
                  <a:extLst>
                    <a:ext uri="{9D8B030D-6E8A-4147-A177-3AD203B41FA5}">
                      <a16:colId xmlns:a16="http://schemas.microsoft.com/office/drawing/2014/main" val="1623581070"/>
                    </a:ext>
                  </a:extLst>
                </a:gridCol>
                <a:gridCol w="7326086">
                  <a:extLst>
                    <a:ext uri="{9D8B030D-6E8A-4147-A177-3AD203B41FA5}">
                      <a16:colId xmlns:a16="http://schemas.microsoft.com/office/drawing/2014/main" val="2351187834"/>
                    </a:ext>
                  </a:extLst>
                </a:gridCol>
              </a:tblGrid>
              <a:tr h="370840">
                <a:tc>
                  <a:txBody>
                    <a:bodyPr/>
                    <a:lstStyle/>
                    <a:p>
                      <a:r>
                        <a:rPr lang="en-IN" dirty="0"/>
                        <a:t>S. No.</a:t>
                      </a:r>
                    </a:p>
                  </a:txBody>
                  <a:tcPr/>
                </a:tc>
                <a:tc>
                  <a:txBody>
                    <a:bodyPr/>
                    <a:lstStyle/>
                    <a:p>
                      <a:r>
                        <a:rPr lang="en-IN" dirty="0"/>
                        <a:t>Name</a:t>
                      </a:r>
                    </a:p>
                  </a:txBody>
                  <a:tcPr/>
                </a:tc>
                <a:tc>
                  <a:txBody>
                    <a:bodyPr/>
                    <a:lstStyle/>
                    <a:p>
                      <a:r>
                        <a:rPr lang="en-IN" dirty="0"/>
                        <a:t>Description</a:t>
                      </a:r>
                    </a:p>
                  </a:txBody>
                  <a:tcPr/>
                </a:tc>
                <a:extLst>
                  <a:ext uri="{0D108BD9-81ED-4DB2-BD59-A6C34878D82A}">
                    <a16:rowId xmlns:a16="http://schemas.microsoft.com/office/drawing/2014/main" val="1747284999"/>
                  </a:ext>
                </a:extLst>
              </a:tr>
              <a:tr h="370840">
                <a:tc>
                  <a:txBody>
                    <a:bodyPr/>
                    <a:lstStyle/>
                    <a:p>
                      <a:r>
                        <a:rPr lang="en-IN" dirty="0"/>
                        <a:t>1.</a:t>
                      </a:r>
                    </a:p>
                  </a:txBody>
                  <a:tcPr/>
                </a:tc>
                <a:tc>
                  <a:txBody>
                    <a:bodyPr/>
                    <a:lstStyle/>
                    <a:p>
                      <a:r>
                        <a:rPr lang="en-US" sz="1800" b="0" kern="1200" dirty="0">
                          <a:solidFill>
                            <a:schemeClr val="tx1"/>
                          </a:solidFill>
                          <a:effectLst/>
                          <a:latin typeface="+mn-lt"/>
                          <a:ea typeface="+mn-ea"/>
                          <a:cs typeface="+mn-cs"/>
                        </a:rPr>
                        <a:t>DependenciesCheckModifiedLibraries.yml</a:t>
                      </a:r>
                      <a:endParaRPr lang="en-IN" dirty="0"/>
                    </a:p>
                  </a:txBody>
                  <a:tcPr/>
                </a:tc>
                <a:tc>
                  <a:txBody>
                    <a:bodyPr/>
                    <a:lstStyle/>
                    <a:p>
                      <a:r>
                        <a:rPr lang="en-US" sz="1800" b="0" kern="1200" dirty="0">
                          <a:solidFill>
                            <a:schemeClr val="tx1"/>
                          </a:solidFill>
                          <a:effectLst/>
                          <a:latin typeface="+mn-lt"/>
                          <a:ea typeface="+mn-ea"/>
                          <a:cs typeface="+mn-cs"/>
                        </a:rPr>
                        <a:t>Implements Automated Dependency Checks on libraries that are modified in the current PR.</a:t>
                      </a:r>
                      <a:endParaRPr lang="en-IN" dirty="0"/>
                    </a:p>
                  </a:txBody>
                  <a:tcPr/>
                </a:tc>
                <a:extLst>
                  <a:ext uri="{0D108BD9-81ED-4DB2-BD59-A6C34878D82A}">
                    <a16:rowId xmlns:a16="http://schemas.microsoft.com/office/drawing/2014/main" val="1395820696"/>
                  </a:ext>
                </a:extLst>
              </a:tr>
              <a:tr h="370840">
                <a:tc>
                  <a:txBody>
                    <a:bodyPr/>
                    <a:lstStyle/>
                    <a:p>
                      <a:r>
                        <a:rPr lang="en-IN" dirty="0"/>
                        <a:t>2. </a:t>
                      </a:r>
                    </a:p>
                  </a:txBody>
                  <a:tcPr/>
                </a:tc>
                <a:tc>
                  <a:txBody>
                    <a:bodyPr/>
                    <a:lstStyle/>
                    <a:p>
                      <a:r>
                        <a:rPr lang="en-US" sz="1800" b="0" kern="1200" dirty="0">
                          <a:solidFill>
                            <a:schemeClr val="tx1"/>
                          </a:solidFill>
                          <a:effectLst/>
                          <a:latin typeface="+mn-lt"/>
                          <a:ea typeface="+mn-ea"/>
                          <a:cs typeface="+mn-cs"/>
                        </a:rPr>
                        <a:t>DependenciesCheckAllLibraries.yml</a:t>
                      </a:r>
                      <a:endParaRPr lang="en-IN" dirty="0"/>
                    </a:p>
                  </a:txBody>
                  <a:tcPr/>
                </a:tc>
                <a:tc>
                  <a:txBody>
                    <a:bodyPr/>
                    <a:lstStyle/>
                    <a:p>
                      <a:r>
                        <a:rPr lang="en-US" sz="1800" b="0" kern="1200" dirty="0">
                          <a:solidFill>
                            <a:schemeClr val="tx1"/>
                          </a:solidFill>
                          <a:effectLst/>
                          <a:latin typeface="+mn-lt"/>
                          <a:ea typeface="+mn-ea"/>
                          <a:cs typeface="+mn-cs"/>
                        </a:rPr>
                        <a:t>Implements a scheduled Automated Dependency check on all the libraries in the repository.</a:t>
                      </a:r>
                    </a:p>
                    <a:p>
                      <a:r>
                        <a:rPr lang="en-US" sz="1800" b="0" kern="1200" dirty="0">
                          <a:solidFill>
                            <a:schemeClr val="tx1"/>
                          </a:solidFill>
                          <a:effectLst/>
                          <a:latin typeface="+mn-lt"/>
                          <a:ea typeface="+mn-ea"/>
                          <a:cs typeface="+mn-cs"/>
                        </a:rPr>
                        <a:t>Regenerates the Consolidated Actual Dependencies List (adeps) file and creates a PR automatically if there are new changes observed in the adeps file.</a:t>
                      </a:r>
                    </a:p>
                    <a:p>
                      <a:r>
                        <a:rPr lang="en-US" sz="1800" b="0" kern="1200" dirty="0">
                          <a:solidFill>
                            <a:schemeClr val="tx1"/>
                          </a:solidFill>
                          <a:effectLst/>
                          <a:latin typeface="+mn-lt"/>
                          <a:ea typeface="+mn-ea"/>
                          <a:cs typeface="+mn-cs"/>
                        </a:rPr>
                        <a:t>This helps report any changes that were not covered in any PRs. Example: If a library is modified, only its section is updated in the previous </a:t>
                      </a:r>
                      <a:r>
                        <a:rPr lang="en-US" sz="1800" b="0" kern="1200" dirty="0" err="1">
                          <a:solidFill>
                            <a:schemeClr val="tx1"/>
                          </a:solidFill>
                          <a:effectLst/>
                          <a:latin typeface="+mn-lt"/>
                          <a:ea typeface="+mn-ea"/>
                          <a:cs typeface="+mn-cs"/>
                        </a:rPr>
                        <a:t>yml</a:t>
                      </a:r>
                      <a:r>
                        <a:rPr lang="en-US" sz="1800" b="0" kern="1200" dirty="0">
                          <a:solidFill>
                            <a:schemeClr val="tx1"/>
                          </a:solidFill>
                          <a:effectLst/>
                          <a:latin typeface="+mn-lt"/>
                          <a:ea typeface="+mn-ea"/>
                          <a:cs typeface="+mn-cs"/>
                        </a:rPr>
                        <a:t>, other affected changes can also be observed here.</a:t>
                      </a:r>
                      <a:endParaRPr lang="en-IN" dirty="0"/>
                    </a:p>
                  </a:txBody>
                  <a:tcPr/>
                </a:tc>
                <a:extLst>
                  <a:ext uri="{0D108BD9-81ED-4DB2-BD59-A6C34878D82A}">
                    <a16:rowId xmlns:a16="http://schemas.microsoft.com/office/drawing/2014/main" val="104046521"/>
                  </a:ext>
                </a:extLst>
              </a:tr>
              <a:tr h="370840">
                <a:tc>
                  <a:txBody>
                    <a:bodyPr/>
                    <a:lstStyle/>
                    <a:p>
                      <a:r>
                        <a:rPr lang="en-IN" dirty="0"/>
                        <a:t>3. </a:t>
                      </a:r>
                    </a:p>
                  </a:txBody>
                  <a:tcPr/>
                </a:tc>
                <a:tc>
                  <a:txBody>
                    <a:bodyPr/>
                    <a:lstStyle/>
                    <a:p>
                      <a:r>
                        <a:rPr lang="en-US" sz="1800" b="0" kern="1200" dirty="0">
                          <a:solidFill>
                            <a:schemeClr val="tx1"/>
                          </a:solidFill>
                          <a:effectLst/>
                          <a:latin typeface="+mn-lt"/>
                          <a:ea typeface="+mn-ea"/>
                          <a:cs typeface="+mn-cs"/>
                        </a:rPr>
                        <a:t>PRBaseBranchSyncCheck.yml</a:t>
                      </a:r>
                      <a:endParaRPr lang="en-IN" dirty="0"/>
                    </a:p>
                  </a:txBody>
                  <a:tcPr/>
                </a:tc>
                <a:tc>
                  <a:txBody>
                    <a:bodyPr/>
                    <a:lstStyle/>
                    <a:p>
                      <a:r>
                        <a:rPr lang="en-US" sz="1800" b="0" kern="1200" dirty="0">
                          <a:solidFill>
                            <a:schemeClr val="tx1"/>
                          </a:solidFill>
                          <a:effectLst/>
                          <a:latin typeface="+mn-lt"/>
                          <a:ea typeface="+mn-ea"/>
                          <a:cs typeface="+mn-cs"/>
                        </a:rPr>
                        <a:t>Checks if the base branch is in sync with the head branch in the PR.</a:t>
                      </a:r>
                    </a:p>
                  </a:txBody>
                  <a:tcPr/>
                </a:tc>
                <a:extLst>
                  <a:ext uri="{0D108BD9-81ED-4DB2-BD59-A6C34878D82A}">
                    <a16:rowId xmlns:a16="http://schemas.microsoft.com/office/drawing/2014/main" val="1819082634"/>
                  </a:ext>
                </a:extLst>
              </a:tr>
            </a:tbl>
          </a:graphicData>
        </a:graphic>
      </p:graphicFrame>
    </p:spTree>
    <p:extLst>
      <p:ext uri="{BB962C8B-B14F-4D97-AF65-F5344CB8AC3E}">
        <p14:creationId xmlns:p14="http://schemas.microsoft.com/office/powerpoint/2010/main" val="181779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B8392-835C-F5CD-A271-67C805CEE5F1}"/>
              </a:ext>
            </a:extLst>
          </p:cNvPr>
          <p:cNvSpPr>
            <a:spLocks noGrp="1"/>
          </p:cNvSpPr>
          <p:nvPr>
            <p:ph type="title"/>
          </p:nvPr>
        </p:nvSpPr>
        <p:spPr>
          <a:xfrm>
            <a:off x="627743" y="242343"/>
            <a:ext cx="10515600" cy="512989"/>
          </a:xfrm>
        </p:spPr>
        <p:txBody>
          <a:bodyPr>
            <a:normAutofit fontScale="90000"/>
          </a:bodyPr>
          <a:lstStyle/>
          <a:p>
            <a:r>
              <a:rPr lang="en-IN" dirty="0"/>
              <a:t>List of Available Tools</a:t>
            </a:r>
          </a:p>
        </p:txBody>
      </p:sp>
      <p:graphicFrame>
        <p:nvGraphicFramePr>
          <p:cNvPr id="6" name="Content Placeholder 5">
            <a:extLst>
              <a:ext uri="{FF2B5EF4-FFF2-40B4-BE49-F238E27FC236}">
                <a16:creationId xmlns:a16="http://schemas.microsoft.com/office/drawing/2014/main" id="{4408CEDE-D84D-A1F0-114A-28ACB1D6A387}"/>
              </a:ext>
            </a:extLst>
          </p:cNvPr>
          <p:cNvGraphicFramePr>
            <a:graphicFrameLocks noGrp="1"/>
          </p:cNvGraphicFramePr>
          <p:nvPr>
            <p:ph idx="1"/>
            <p:extLst>
              <p:ext uri="{D42A27DB-BD31-4B8C-83A1-F6EECF244321}">
                <p14:modId xmlns:p14="http://schemas.microsoft.com/office/powerpoint/2010/main" val="1416934199"/>
              </p:ext>
            </p:extLst>
          </p:nvPr>
        </p:nvGraphicFramePr>
        <p:xfrm>
          <a:off x="627746" y="867682"/>
          <a:ext cx="10515597" cy="5491480"/>
        </p:xfrm>
        <a:graphic>
          <a:graphicData uri="http://schemas.openxmlformats.org/drawingml/2006/table">
            <a:tbl>
              <a:tblPr firstRow="1" bandRow="1">
                <a:tableStyleId>{5C22544A-7EE6-4342-B048-85BDC9FD1C3A}</a:tableStyleId>
              </a:tblPr>
              <a:tblGrid>
                <a:gridCol w="852714">
                  <a:extLst>
                    <a:ext uri="{9D8B030D-6E8A-4147-A177-3AD203B41FA5}">
                      <a16:colId xmlns:a16="http://schemas.microsoft.com/office/drawing/2014/main" val="327423408"/>
                    </a:ext>
                  </a:extLst>
                </a:gridCol>
                <a:gridCol w="2106119">
                  <a:extLst>
                    <a:ext uri="{9D8B030D-6E8A-4147-A177-3AD203B41FA5}">
                      <a16:colId xmlns:a16="http://schemas.microsoft.com/office/drawing/2014/main" val="1623581070"/>
                    </a:ext>
                  </a:extLst>
                </a:gridCol>
                <a:gridCol w="7556764">
                  <a:extLst>
                    <a:ext uri="{9D8B030D-6E8A-4147-A177-3AD203B41FA5}">
                      <a16:colId xmlns:a16="http://schemas.microsoft.com/office/drawing/2014/main" val="2351187834"/>
                    </a:ext>
                  </a:extLst>
                </a:gridCol>
              </a:tblGrid>
              <a:tr h="370840">
                <a:tc>
                  <a:txBody>
                    <a:bodyPr/>
                    <a:lstStyle/>
                    <a:p>
                      <a:r>
                        <a:rPr lang="en-IN" dirty="0"/>
                        <a:t>S. No.</a:t>
                      </a:r>
                    </a:p>
                  </a:txBody>
                  <a:tcPr/>
                </a:tc>
                <a:tc>
                  <a:txBody>
                    <a:bodyPr/>
                    <a:lstStyle/>
                    <a:p>
                      <a:r>
                        <a:rPr lang="en-IN" dirty="0"/>
                        <a:t>Name</a:t>
                      </a:r>
                    </a:p>
                  </a:txBody>
                  <a:tcPr/>
                </a:tc>
                <a:tc>
                  <a:txBody>
                    <a:bodyPr/>
                    <a:lstStyle/>
                    <a:p>
                      <a:r>
                        <a:rPr lang="en-IN" dirty="0"/>
                        <a:t>Description</a:t>
                      </a:r>
                    </a:p>
                  </a:txBody>
                  <a:tcPr/>
                </a:tc>
                <a:extLst>
                  <a:ext uri="{0D108BD9-81ED-4DB2-BD59-A6C34878D82A}">
                    <a16:rowId xmlns:a16="http://schemas.microsoft.com/office/drawing/2014/main" val="1747284999"/>
                  </a:ext>
                </a:extLst>
              </a:tr>
              <a:tr h="370840">
                <a:tc>
                  <a:txBody>
                    <a:bodyPr/>
                    <a:lstStyle/>
                    <a:p>
                      <a:r>
                        <a:rPr lang="en-IN" dirty="0"/>
                        <a:t>1.</a:t>
                      </a:r>
                    </a:p>
                  </a:txBody>
                  <a:tcPr/>
                </a:tc>
                <a:tc>
                  <a:txBody>
                    <a:bodyPr/>
                    <a:lstStyle/>
                    <a:p>
                      <a:r>
                        <a:rPr lang="en-US" sz="1800" b="0" kern="1200" dirty="0">
                          <a:solidFill>
                            <a:schemeClr val="tx1"/>
                          </a:solidFill>
                          <a:effectLst/>
                          <a:latin typeface="+mn-lt"/>
                          <a:ea typeface="+mn-ea"/>
                          <a:cs typeface="+mn-cs"/>
                        </a:rPr>
                        <a:t>generate_changed_files_list.py</a:t>
                      </a:r>
                      <a:endParaRPr lang="en-IN" dirty="0"/>
                    </a:p>
                  </a:txBody>
                  <a:tcPr/>
                </a:tc>
                <a:tc>
                  <a:txBody>
                    <a:bodyPr/>
                    <a:lstStyle/>
                    <a:p>
                      <a:r>
                        <a:rPr lang="en-US" dirty="0"/>
                        <a:t>This python script finds the list of changed files and libraries in the current branch and saves the details in the files under the folder 'CICD/Temp/</a:t>
                      </a:r>
                      <a:r>
                        <a:rPr lang="en-US" dirty="0" err="1"/>
                        <a:t>CheckModifiedLVFiles</a:t>
                      </a:r>
                      <a:r>
                        <a:rPr lang="en-US" dirty="0"/>
                        <a:t>/’.</a:t>
                      </a:r>
                    </a:p>
                    <a:p>
                      <a:r>
                        <a:rPr lang="en-US" dirty="0"/>
                        <a:t>Useful to filter and perform automated checks only on the libraries that are edited in current PR.</a:t>
                      </a:r>
                      <a:endParaRPr lang="en-IN" dirty="0"/>
                    </a:p>
                  </a:txBody>
                  <a:tcPr/>
                </a:tc>
                <a:extLst>
                  <a:ext uri="{0D108BD9-81ED-4DB2-BD59-A6C34878D82A}">
                    <a16:rowId xmlns:a16="http://schemas.microsoft.com/office/drawing/2014/main" val="1395820696"/>
                  </a:ext>
                </a:extLst>
              </a:tr>
              <a:tr h="370840">
                <a:tc>
                  <a:txBody>
                    <a:bodyPr/>
                    <a:lstStyle/>
                    <a:p>
                      <a:r>
                        <a:rPr lang="en-IN" dirty="0"/>
                        <a:t>2. </a:t>
                      </a:r>
                    </a:p>
                  </a:txBody>
                  <a:tcPr/>
                </a:tc>
                <a:tc>
                  <a:txBody>
                    <a:bodyPr/>
                    <a:lstStyle/>
                    <a:p>
                      <a:r>
                        <a:rPr lang="en-US" sz="1800" b="1" kern="1200" dirty="0">
                          <a:solidFill>
                            <a:schemeClr val="tx1"/>
                          </a:solidFill>
                          <a:effectLst/>
                          <a:latin typeface="+mn-lt"/>
                          <a:ea typeface="+mn-ea"/>
                          <a:cs typeface="+mn-cs"/>
                        </a:rPr>
                        <a:t>UnexpectedDepsCheck.vi</a:t>
                      </a:r>
                      <a:endParaRPr lang="en-IN" b="1" dirty="0"/>
                    </a:p>
                  </a:txBody>
                  <a:tcPr/>
                </a:tc>
                <a:tc>
                  <a:txBody>
                    <a:bodyPr/>
                    <a:lstStyle/>
                    <a:p>
                      <a:r>
                        <a:rPr lang="en-US" sz="1800" b="0" kern="1200" dirty="0">
                          <a:solidFill>
                            <a:schemeClr val="tx1"/>
                          </a:solidFill>
                          <a:effectLst/>
                          <a:latin typeface="+mn-lt"/>
                          <a:ea typeface="+mn-ea"/>
                          <a:cs typeface="+mn-cs"/>
                        </a:rPr>
                        <a:t>Compares the expected dependencies (defined in .deps files) with the actual dependencies (programmatically read from the lvproj files), returns the failures.</a:t>
                      </a:r>
                    </a:p>
                    <a:p>
                      <a:r>
                        <a:rPr lang="en-US" dirty="0"/>
                        <a:t>‘</a:t>
                      </a:r>
                      <a:r>
                        <a:rPr lang="en-US" dirty="0" err="1"/>
                        <a:t>CheckChangedLibrariesOnly</a:t>
                      </a:r>
                      <a:r>
                        <a:rPr lang="en-US" dirty="0"/>
                        <a:t>` is available to check only the libraries that are edited in the current branch. ‘generate_changed_files_list.py’ is pre-requisite.</a:t>
                      </a:r>
                      <a:endParaRPr lang="en-IN" dirty="0"/>
                    </a:p>
                  </a:txBody>
                  <a:tcPr/>
                </a:tc>
                <a:extLst>
                  <a:ext uri="{0D108BD9-81ED-4DB2-BD59-A6C34878D82A}">
                    <a16:rowId xmlns:a16="http://schemas.microsoft.com/office/drawing/2014/main" val="104046521"/>
                  </a:ext>
                </a:extLst>
              </a:tr>
              <a:tr h="370840">
                <a:tc>
                  <a:txBody>
                    <a:bodyPr/>
                    <a:lstStyle/>
                    <a:p>
                      <a:r>
                        <a:rPr lang="en-IN" dirty="0"/>
                        <a:t>3. </a:t>
                      </a:r>
                    </a:p>
                  </a:txBody>
                  <a:tcPr/>
                </a:tc>
                <a:tc>
                  <a:txBody>
                    <a:bodyPr/>
                    <a:lstStyle/>
                    <a:p>
                      <a:r>
                        <a:rPr lang="en-US" sz="1800" b="1" kern="1200" dirty="0">
                          <a:solidFill>
                            <a:schemeClr val="tx1"/>
                          </a:solidFill>
                          <a:effectLst/>
                          <a:latin typeface="+mn-lt"/>
                          <a:ea typeface="+mn-ea"/>
                          <a:cs typeface="+mn-cs"/>
                        </a:rPr>
                        <a:t>UpdateActualDepsList.vi</a:t>
                      </a:r>
                      <a:endParaRPr lang="en-IN" b="1" dirty="0"/>
                    </a:p>
                  </a:txBody>
                  <a:tcPr/>
                </a:tc>
                <a:tc>
                  <a:txBody>
                    <a:bodyPr/>
                    <a:lstStyle/>
                    <a:p>
                      <a:r>
                        <a:rPr lang="en-US" sz="1800" b="0" kern="1200" dirty="0">
                          <a:solidFill>
                            <a:schemeClr val="tx1"/>
                          </a:solidFill>
                          <a:effectLst/>
                          <a:latin typeface="+mn-lt"/>
                          <a:ea typeface="+mn-ea"/>
                          <a:cs typeface="+mn-cs"/>
                        </a:rPr>
                        <a:t>Updates the </a:t>
                      </a:r>
                      <a:r>
                        <a:rPr lang="en-US" sz="1800" b="0" kern="1200" dirty="0" err="1">
                          <a:solidFill>
                            <a:schemeClr val="tx1"/>
                          </a:solidFill>
                          <a:effectLst/>
                          <a:latin typeface="+mn-lt"/>
                          <a:ea typeface="+mn-ea"/>
                          <a:cs typeface="+mn-cs"/>
                        </a:rPr>
                        <a:t>ActualDepsList.adeps</a:t>
                      </a:r>
                      <a:r>
                        <a:rPr lang="en-US" sz="1800" b="0" kern="1200" dirty="0">
                          <a:solidFill>
                            <a:schemeClr val="tx1"/>
                          </a:solidFill>
                          <a:effectLst/>
                          <a:latin typeface="+mn-lt"/>
                          <a:ea typeface="+mn-ea"/>
                          <a:cs typeface="+mn-cs"/>
                        </a:rPr>
                        <a:t> file with the current actual dependencies read from the lvproj files</a:t>
                      </a:r>
                      <a:endParaRPr lang="en-IN" dirty="0"/>
                    </a:p>
                  </a:txBody>
                  <a:tcPr/>
                </a:tc>
                <a:extLst>
                  <a:ext uri="{0D108BD9-81ED-4DB2-BD59-A6C34878D82A}">
                    <a16:rowId xmlns:a16="http://schemas.microsoft.com/office/drawing/2014/main" val="1819082634"/>
                  </a:ext>
                </a:extLst>
              </a:tr>
              <a:tr h="370840">
                <a:tc>
                  <a:txBody>
                    <a:bodyPr/>
                    <a:lstStyle/>
                    <a:p>
                      <a:r>
                        <a:rPr lang="en-IN" dirty="0"/>
                        <a:t>4. </a:t>
                      </a:r>
                    </a:p>
                  </a:txBody>
                  <a:tcPr/>
                </a:tc>
                <a:tc>
                  <a:txBody>
                    <a:bodyPr/>
                    <a:lstStyle/>
                    <a:p>
                      <a:r>
                        <a:rPr lang="en-US" sz="1800" b="0" kern="1200" dirty="0">
                          <a:solidFill>
                            <a:schemeClr val="tx1"/>
                          </a:solidFill>
                          <a:effectLst/>
                          <a:latin typeface="+mn-lt"/>
                          <a:ea typeface="+mn-ea"/>
                          <a:cs typeface="+mn-cs"/>
                        </a:rPr>
                        <a:t>find_circular_paths.py</a:t>
                      </a:r>
                      <a:endParaRPr lang="en-IN" dirty="0"/>
                    </a:p>
                  </a:txBody>
                  <a:tcPr/>
                </a:tc>
                <a:tc>
                  <a:txBody>
                    <a:bodyPr/>
                    <a:lstStyle/>
                    <a:p>
                      <a:r>
                        <a:rPr lang="en-US" sz="1800" b="0" kern="1200" dirty="0">
                          <a:solidFill>
                            <a:schemeClr val="tx1"/>
                          </a:solidFill>
                          <a:effectLst/>
                          <a:latin typeface="+mn-lt"/>
                          <a:ea typeface="+mn-ea"/>
                          <a:cs typeface="+mn-cs"/>
                        </a:rPr>
                        <a:t>Finds circular dependency paths in the </a:t>
                      </a:r>
                      <a:r>
                        <a:rPr lang="en-US" sz="1800" b="0" kern="1200" dirty="0" err="1">
                          <a:solidFill>
                            <a:schemeClr val="tx1"/>
                          </a:solidFill>
                          <a:effectLst/>
                          <a:latin typeface="+mn-lt"/>
                          <a:ea typeface="+mn-ea"/>
                          <a:cs typeface="+mn-cs"/>
                        </a:rPr>
                        <a:t>ActualDepsList.adeps</a:t>
                      </a:r>
                      <a:r>
                        <a:rPr lang="en-US" sz="1800" b="0" kern="1200" dirty="0">
                          <a:solidFill>
                            <a:schemeClr val="tx1"/>
                          </a:solidFill>
                          <a:effectLst/>
                          <a:latin typeface="+mn-lt"/>
                          <a:ea typeface="+mn-ea"/>
                          <a:cs typeface="+mn-cs"/>
                        </a:rPr>
                        <a:t> file and reports them in the console output</a:t>
                      </a:r>
                      <a:endParaRPr lang="en-IN" dirty="0"/>
                    </a:p>
                  </a:txBody>
                  <a:tcPr/>
                </a:tc>
                <a:extLst>
                  <a:ext uri="{0D108BD9-81ED-4DB2-BD59-A6C34878D82A}">
                    <a16:rowId xmlns:a16="http://schemas.microsoft.com/office/drawing/2014/main" val="4129370520"/>
                  </a:ext>
                </a:extLst>
              </a:tr>
              <a:tr h="370840">
                <a:tc>
                  <a:txBody>
                    <a:bodyPr/>
                    <a:lstStyle/>
                    <a:p>
                      <a:r>
                        <a:rPr lang="en-IN" dirty="0"/>
                        <a:t>5.</a:t>
                      </a:r>
                    </a:p>
                  </a:txBody>
                  <a:tcPr/>
                </a:tc>
                <a:tc>
                  <a:txBody>
                    <a:bodyPr/>
                    <a:lstStyle/>
                    <a:p>
                      <a:r>
                        <a:rPr lang="en-US" sz="1800" b="0" kern="1200" dirty="0">
                          <a:solidFill>
                            <a:schemeClr val="tx1"/>
                          </a:solidFill>
                          <a:effectLst/>
                          <a:latin typeface="+mn-lt"/>
                          <a:ea typeface="+mn-ea"/>
                          <a:cs typeface="+mn-cs"/>
                        </a:rPr>
                        <a:t>generate_full_dependency_graph.py</a:t>
                      </a:r>
                      <a:endParaRPr lang="en-IN" dirty="0"/>
                    </a:p>
                  </a:txBody>
                  <a:tcPr/>
                </a:tc>
                <a:tc>
                  <a:txBody>
                    <a:bodyPr/>
                    <a:lstStyle/>
                    <a:p>
                      <a:r>
                        <a:rPr lang="en-US" sz="1800" b="0" kern="1200" dirty="0">
                          <a:solidFill>
                            <a:schemeClr val="tx1"/>
                          </a:solidFill>
                          <a:effectLst/>
                          <a:latin typeface="+mn-lt"/>
                          <a:ea typeface="+mn-ea"/>
                          <a:cs typeface="+mn-cs"/>
                        </a:rPr>
                        <a:t>Generates a full dependency graph image from the </a:t>
                      </a:r>
                      <a:r>
                        <a:rPr lang="en-US" sz="1800" b="0" kern="1200" dirty="0" err="1">
                          <a:solidFill>
                            <a:schemeClr val="tx1"/>
                          </a:solidFill>
                          <a:effectLst/>
                          <a:latin typeface="+mn-lt"/>
                          <a:ea typeface="+mn-ea"/>
                          <a:cs typeface="+mn-cs"/>
                        </a:rPr>
                        <a:t>ActualDepsList.adeps</a:t>
                      </a:r>
                      <a:r>
                        <a:rPr lang="en-US" sz="1800" b="0" kern="1200" dirty="0">
                          <a:solidFill>
                            <a:schemeClr val="tx1"/>
                          </a:solidFill>
                          <a:effectLst/>
                          <a:latin typeface="+mn-lt"/>
                          <a:ea typeface="+mn-ea"/>
                          <a:cs typeface="+mn-cs"/>
                        </a:rPr>
                        <a:t> file to represent the dependencies observed between all the libraries</a:t>
                      </a:r>
                      <a:endParaRPr lang="en-IN" dirty="0"/>
                    </a:p>
                  </a:txBody>
                  <a:tcPr/>
                </a:tc>
                <a:extLst>
                  <a:ext uri="{0D108BD9-81ED-4DB2-BD59-A6C34878D82A}">
                    <a16:rowId xmlns:a16="http://schemas.microsoft.com/office/drawing/2014/main" val="2495733156"/>
                  </a:ext>
                </a:extLst>
              </a:tr>
            </a:tbl>
          </a:graphicData>
        </a:graphic>
      </p:graphicFrame>
    </p:spTree>
    <p:extLst>
      <p:ext uri="{BB962C8B-B14F-4D97-AF65-F5344CB8AC3E}">
        <p14:creationId xmlns:p14="http://schemas.microsoft.com/office/powerpoint/2010/main" val="2172925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9A8E-9771-1A58-AECA-3FED36CBF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8CE5A-77F4-5F7E-C149-5D2676A7FF7C}"/>
              </a:ext>
            </a:extLst>
          </p:cNvPr>
          <p:cNvSpPr>
            <a:spLocks noGrp="1"/>
          </p:cNvSpPr>
          <p:nvPr>
            <p:ph type="title"/>
          </p:nvPr>
        </p:nvSpPr>
        <p:spPr>
          <a:xfrm>
            <a:off x="627743" y="231857"/>
            <a:ext cx="10515600" cy="512989"/>
          </a:xfrm>
        </p:spPr>
        <p:txBody>
          <a:bodyPr>
            <a:normAutofit fontScale="90000"/>
          </a:bodyPr>
          <a:lstStyle/>
          <a:p>
            <a:r>
              <a:rPr lang="en-IN" dirty="0"/>
              <a:t>List of Available Tools</a:t>
            </a:r>
          </a:p>
        </p:txBody>
      </p:sp>
      <p:graphicFrame>
        <p:nvGraphicFramePr>
          <p:cNvPr id="6" name="Content Placeholder 5">
            <a:extLst>
              <a:ext uri="{FF2B5EF4-FFF2-40B4-BE49-F238E27FC236}">
                <a16:creationId xmlns:a16="http://schemas.microsoft.com/office/drawing/2014/main" id="{127AE052-6FB0-B7A7-DB31-53CE71F0F2A6}"/>
              </a:ext>
            </a:extLst>
          </p:cNvPr>
          <p:cNvGraphicFramePr>
            <a:graphicFrameLocks noGrp="1"/>
          </p:cNvGraphicFramePr>
          <p:nvPr>
            <p:ph idx="1"/>
            <p:extLst>
              <p:ext uri="{D42A27DB-BD31-4B8C-83A1-F6EECF244321}">
                <p14:modId xmlns:p14="http://schemas.microsoft.com/office/powerpoint/2010/main" val="1518924576"/>
              </p:ext>
            </p:extLst>
          </p:nvPr>
        </p:nvGraphicFramePr>
        <p:xfrm>
          <a:off x="627746" y="867682"/>
          <a:ext cx="10515597" cy="3662680"/>
        </p:xfrm>
        <a:graphic>
          <a:graphicData uri="http://schemas.openxmlformats.org/drawingml/2006/table">
            <a:tbl>
              <a:tblPr firstRow="1" bandRow="1">
                <a:tableStyleId>{5C22544A-7EE6-4342-B048-85BDC9FD1C3A}</a:tableStyleId>
              </a:tblPr>
              <a:tblGrid>
                <a:gridCol w="852714">
                  <a:extLst>
                    <a:ext uri="{9D8B030D-6E8A-4147-A177-3AD203B41FA5}">
                      <a16:colId xmlns:a16="http://schemas.microsoft.com/office/drawing/2014/main" val="327423408"/>
                    </a:ext>
                  </a:extLst>
                </a:gridCol>
                <a:gridCol w="1988454">
                  <a:extLst>
                    <a:ext uri="{9D8B030D-6E8A-4147-A177-3AD203B41FA5}">
                      <a16:colId xmlns:a16="http://schemas.microsoft.com/office/drawing/2014/main" val="1623581070"/>
                    </a:ext>
                  </a:extLst>
                </a:gridCol>
                <a:gridCol w="7674429">
                  <a:extLst>
                    <a:ext uri="{9D8B030D-6E8A-4147-A177-3AD203B41FA5}">
                      <a16:colId xmlns:a16="http://schemas.microsoft.com/office/drawing/2014/main" val="2351187834"/>
                    </a:ext>
                  </a:extLst>
                </a:gridCol>
              </a:tblGrid>
              <a:tr h="370840">
                <a:tc>
                  <a:txBody>
                    <a:bodyPr/>
                    <a:lstStyle/>
                    <a:p>
                      <a:r>
                        <a:rPr lang="en-IN" dirty="0"/>
                        <a:t>S. No.</a:t>
                      </a:r>
                    </a:p>
                  </a:txBody>
                  <a:tcPr/>
                </a:tc>
                <a:tc>
                  <a:txBody>
                    <a:bodyPr/>
                    <a:lstStyle/>
                    <a:p>
                      <a:r>
                        <a:rPr lang="en-IN" dirty="0"/>
                        <a:t>Name</a:t>
                      </a:r>
                    </a:p>
                  </a:txBody>
                  <a:tcPr/>
                </a:tc>
                <a:tc>
                  <a:txBody>
                    <a:bodyPr/>
                    <a:lstStyle/>
                    <a:p>
                      <a:r>
                        <a:rPr lang="en-IN" dirty="0"/>
                        <a:t>Description</a:t>
                      </a:r>
                    </a:p>
                  </a:txBody>
                  <a:tcPr/>
                </a:tc>
                <a:extLst>
                  <a:ext uri="{0D108BD9-81ED-4DB2-BD59-A6C34878D82A}">
                    <a16:rowId xmlns:a16="http://schemas.microsoft.com/office/drawing/2014/main" val="1747284999"/>
                  </a:ext>
                </a:extLst>
              </a:tr>
              <a:tr h="370840">
                <a:tc>
                  <a:txBody>
                    <a:bodyPr/>
                    <a:lstStyle/>
                    <a:p>
                      <a:r>
                        <a:rPr lang="en-IN" dirty="0"/>
                        <a:t>6.</a:t>
                      </a:r>
                    </a:p>
                  </a:txBody>
                  <a:tcPr/>
                </a:tc>
                <a:tc>
                  <a:txBody>
                    <a:bodyPr/>
                    <a:lstStyle/>
                    <a:p>
                      <a:r>
                        <a:rPr lang="en-US" sz="1800" b="0" kern="1200" dirty="0">
                          <a:solidFill>
                            <a:schemeClr val="tx1"/>
                          </a:solidFill>
                          <a:effectLst/>
                          <a:latin typeface="+mn-lt"/>
                          <a:ea typeface="+mn-ea"/>
                          <a:cs typeface="+mn-cs"/>
                        </a:rPr>
                        <a:t>generate_dependency_graph_for_selected_nodes.py</a:t>
                      </a:r>
                      <a:endParaRPr lang="en-IN" dirty="0"/>
                    </a:p>
                  </a:txBody>
                  <a:tcPr/>
                </a:tc>
                <a:tc>
                  <a:txBody>
                    <a:bodyPr/>
                    <a:lstStyle/>
                    <a:p>
                      <a:r>
                        <a:rPr lang="en-US" sz="1800" b="0" kern="1200" dirty="0">
                          <a:solidFill>
                            <a:schemeClr val="tx1"/>
                          </a:solidFill>
                          <a:effectLst/>
                          <a:latin typeface="+mn-lt"/>
                          <a:ea typeface="+mn-ea"/>
                          <a:cs typeface="+mn-cs"/>
                        </a:rPr>
                        <a:t>Generates a dependency graph image output for each selected node/library passed as argument to the script</a:t>
                      </a:r>
                      <a:endParaRPr lang="en-IN" dirty="0"/>
                    </a:p>
                  </a:txBody>
                  <a:tcPr/>
                </a:tc>
                <a:extLst>
                  <a:ext uri="{0D108BD9-81ED-4DB2-BD59-A6C34878D82A}">
                    <a16:rowId xmlns:a16="http://schemas.microsoft.com/office/drawing/2014/main" val="1395820696"/>
                  </a:ext>
                </a:extLst>
              </a:tr>
              <a:tr h="370840">
                <a:tc>
                  <a:txBody>
                    <a:bodyPr/>
                    <a:lstStyle/>
                    <a:p>
                      <a:r>
                        <a:rPr lang="en-IN" dirty="0"/>
                        <a:t>7. </a:t>
                      </a:r>
                    </a:p>
                  </a:txBody>
                  <a:tcPr/>
                </a:tc>
                <a:tc>
                  <a:txBody>
                    <a:bodyPr/>
                    <a:lstStyle/>
                    <a:p>
                      <a:r>
                        <a:rPr lang="en-US" sz="1800" b="0" kern="1200" dirty="0">
                          <a:solidFill>
                            <a:schemeClr val="tx1"/>
                          </a:solidFill>
                          <a:effectLst/>
                          <a:latin typeface="+mn-lt"/>
                          <a:ea typeface="+mn-ea"/>
                          <a:cs typeface="+mn-cs"/>
                        </a:rPr>
                        <a:t>find_root_nodes.py</a:t>
                      </a:r>
                      <a:endParaRPr lang="en-IN" dirty="0"/>
                    </a:p>
                  </a:txBody>
                  <a:tcPr/>
                </a:tc>
                <a:tc>
                  <a:txBody>
                    <a:bodyPr/>
                    <a:lstStyle/>
                    <a:p>
                      <a:r>
                        <a:rPr lang="en-US" sz="1800" b="0" kern="1200" dirty="0">
                          <a:solidFill>
                            <a:schemeClr val="tx1"/>
                          </a:solidFill>
                          <a:effectLst/>
                          <a:latin typeface="+mn-lt"/>
                          <a:ea typeface="+mn-ea"/>
                          <a:cs typeface="+mn-cs"/>
                        </a:rPr>
                        <a:t>Finds the root nodes/libraries in the </a:t>
                      </a:r>
                      <a:r>
                        <a:rPr lang="en-US" sz="1800" b="0" kern="1200" dirty="0" err="1">
                          <a:solidFill>
                            <a:schemeClr val="tx1"/>
                          </a:solidFill>
                          <a:effectLst/>
                          <a:latin typeface="+mn-lt"/>
                          <a:ea typeface="+mn-ea"/>
                          <a:cs typeface="+mn-cs"/>
                        </a:rPr>
                        <a:t>ActualDepsList.adeps</a:t>
                      </a:r>
                      <a:r>
                        <a:rPr lang="en-US" sz="1800" b="0" kern="1200" dirty="0">
                          <a:solidFill>
                            <a:schemeClr val="tx1"/>
                          </a:solidFill>
                          <a:effectLst/>
                          <a:latin typeface="+mn-lt"/>
                          <a:ea typeface="+mn-ea"/>
                          <a:cs typeface="+mn-cs"/>
                        </a:rPr>
                        <a:t> file and reports them in the console output.</a:t>
                      </a:r>
                    </a:p>
                    <a:p>
                      <a:r>
                        <a:rPr lang="en-US" sz="1800" b="0" kern="1200" dirty="0">
                          <a:solidFill>
                            <a:schemeClr val="tx1"/>
                          </a:solidFill>
                          <a:effectLst/>
                          <a:latin typeface="+mn-lt"/>
                          <a:ea typeface="+mn-ea"/>
                          <a:cs typeface="+mn-cs"/>
                        </a:rPr>
                        <a:t>This is useful when performing complete rebuild of the project. If we rebulid all the root nodes along with their descendants in the graph, then all the modules will be rebuilt</a:t>
                      </a:r>
                      <a:endParaRPr lang="en-IN" dirty="0"/>
                    </a:p>
                  </a:txBody>
                  <a:tcPr/>
                </a:tc>
                <a:extLst>
                  <a:ext uri="{0D108BD9-81ED-4DB2-BD59-A6C34878D82A}">
                    <a16:rowId xmlns:a16="http://schemas.microsoft.com/office/drawing/2014/main" val="104046521"/>
                  </a:ext>
                </a:extLst>
              </a:tr>
              <a:tr h="370840">
                <a:tc>
                  <a:txBody>
                    <a:bodyPr/>
                    <a:lstStyle/>
                    <a:p>
                      <a:r>
                        <a:rPr lang="en-IN" dirty="0"/>
                        <a:t>8. </a:t>
                      </a:r>
                    </a:p>
                  </a:txBody>
                  <a:tcPr/>
                </a:tc>
                <a:tc>
                  <a:txBody>
                    <a:bodyPr/>
                    <a:lstStyle/>
                    <a:p>
                      <a:r>
                        <a:rPr lang="en-US" sz="1800" b="0" kern="1200" dirty="0">
                          <a:solidFill>
                            <a:schemeClr val="tx1"/>
                          </a:solidFill>
                          <a:effectLst/>
                          <a:latin typeface="+mn-lt"/>
                          <a:ea typeface="+mn-ea"/>
                          <a:cs typeface="+mn-cs"/>
                        </a:rPr>
                        <a:t>sort_actual_deps_list.py</a:t>
                      </a:r>
                      <a:endParaRPr lang="en-IN" dirty="0"/>
                    </a:p>
                  </a:txBody>
                  <a:tcPr/>
                </a:tc>
                <a:tc>
                  <a:txBody>
                    <a:bodyPr/>
                    <a:lstStyle/>
                    <a:p>
                      <a:r>
                        <a:rPr lang="en-US" sz="1800" b="0" kern="1200" dirty="0">
                          <a:solidFill>
                            <a:schemeClr val="tx1"/>
                          </a:solidFill>
                          <a:effectLst/>
                          <a:latin typeface="+mn-lt"/>
                          <a:ea typeface="+mn-ea"/>
                          <a:cs typeface="+mn-cs"/>
                        </a:rPr>
                        <a:t>Sorts the </a:t>
                      </a:r>
                      <a:r>
                        <a:rPr lang="en-US" sz="1800" b="0" kern="1200" dirty="0" err="1">
                          <a:solidFill>
                            <a:schemeClr val="tx1"/>
                          </a:solidFill>
                          <a:effectLst/>
                          <a:latin typeface="+mn-lt"/>
                          <a:ea typeface="+mn-ea"/>
                          <a:cs typeface="+mn-cs"/>
                        </a:rPr>
                        <a:t>ActualDepsList.adeps</a:t>
                      </a:r>
                      <a:r>
                        <a:rPr lang="en-US" sz="1800" b="0" kern="1200" dirty="0">
                          <a:solidFill>
                            <a:schemeClr val="tx1"/>
                          </a:solidFill>
                          <a:effectLst/>
                          <a:latin typeface="+mn-lt"/>
                          <a:ea typeface="+mn-ea"/>
                          <a:cs typeface="+mn-cs"/>
                        </a:rPr>
                        <a:t> file in alphabetical order to make it easier to read and compare with the previous versions of the file in pull request reviews.</a:t>
                      </a:r>
                    </a:p>
                  </a:txBody>
                  <a:tcPr/>
                </a:tc>
                <a:extLst>
                  <a:ext uri="{0D108BD9-81ED-4DB2-BD59-A6C34878D82A}">
                    <a16:rowId xmlns:a16="http://schemas.microsoft.com/office/drawing/2014/main" val="1819082634"/>
                  </a:ext>
                </a:extLst>
              </a:tr>
            </a:tbl>
          </a:graphicData>
        </a:graphic>
      </p:graphicFrame>
    </p:spTree>
    <p:extLst>
      <p:ext uri="{BB962C8B-B14F-4D97-AF65-F5344CB8AC3E}">
        <p14:creationId xmlns:p14="http://schemas.microsoft.com/office/powerpoint/2010/main" val="293295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F1A7F-4C5D-171C-A77F-C36FF729D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A0BCA8-7643-3F4D-ADA4-60A50E26D7E3}"/>
              </a:ext>
            </a:extLst>
          </p:cNvPr>
          <p:cNvSpPr>
            <a:spLocks noGrp="1"/>
          </p:cNvSpPr>
          <p:nvPr>
            <p:ph type="title"/>
          </p:nvPr>
        </p:nvSpPr>
        <p:spPr>
          <a:xfrm>
            <a:off x="605119" y="237290"/>
            <a:ext cx="10515600" cy="782884"/>
          </a:xfrm>
        </p:spPr>
        <p:txBody>
          <a:bodyPr/>
          <a:lstStyle/>
          <a:p>
            <a:r>
              <a:rPr lang="en-US" dirty="0"/>
              <a:t>Example Codebase for Visualization</a:t>
            </a:r>
            <a:endParaRPr lang="en-IN" dirty="0"/>
          </a:p>
        </p:txBody>
      </p:sp>
      <p:sp>
        <p:nvSpPr>
          <p:cNvPr id="4" name="Rectangle 3">
            <a:extLst>
              <a:ext uri="{FF2B5EF4-FFF2-40B4-BE49-F238E27FC236}">
                <a16:creationId xmlns:a16="http://schemas.microsoft.com/office/drawing/2014/main" id="{8E9E0822-C58B-A882-07B1-5FB996393187}"/>
              </a:ext>
            </a:extLst>
          </p:cNvPr>
          <p:cNvSpPr/>
          <p:nvPr/>
        </p:nvSpPr>
        <p:spPr>
          <a:xfrm>
            <a:off x="2621565" y="3118540"/>
            <a:ext cx="1327387"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ModuleA</a:t>
            </a:r>
            <a:r>
              <a:rPr lang="en-US" sz="1200" dirty="0" err="1">
                <a:solidFill>
                  <a:schemeClr val="tx1"/>
                </a:solidFill>
              </a:rPr>
              <a:t>.</a:t>
            </a:r>
            <a:r>
              <a:rPr lang="en-US" sz="1200" b="1" dirty="0" err="1">
                <a:solidFill>
                  <a:schemeClr val="tx1"/>
                </a:solidFill>
              </a:rPr>
              <a:t>lvlib</a:t>
            </a:r>
            <a:endParaRPr lang="en-US" sz="1200" b="1" dirty="0">
              <a:solidFill>
                <a:schemeClr val="tx1"/>
              </a:solidFill>
            </a:endParaRPr>
          </a:p>
        </p:txBody>
      </p:sp>
      <p:sp>
        <p:nvSpPr>
          <p:cNvPr id="5" name="Rectangle 4">
            <a:extLst>
              <a:ext uri="{FF2B5EF4-FFF2-40B4-BE49-F238E27FC236}">
                <a16:creationId xmlns:a16="http://schemas.microsoft.com/office/drawing/2014/main" id="{39D52A6F-9064-1BE2-89A9-FE0E254AA3E6}"/>
              </a:ext>
            </a:extLst>
          </p:cNvPr>
          <p:cNvSpPr/>
          <p:nvPr/>
        </p:nvSpPr>
        <p:spPr>
          <a:xfrm>
            <a:off x="605119" y="3118540"/>
            <a:ext cx="1327387"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ModuleB.lvlib</a:t>
            </a:r>
            <a:endParaRPr lang="en-US" sz="1200" b="1" dirty="0">
              <a:solidFill>
                <a:schemeClr val="tx1"/>
              </a:solidFill>
            </a:endParaRPr>
          </a:p>
        </p:txBody>
      </p:sp>
      <p:sp>
        <p:nvSpPr>
          <p:cNvPr id="6" name="Rectangle 5">
            <a:extLst>
              <a:ext uri="{FF2B5EF4-FFF2-40B4-BE49-F238E27FC236}">
                <a16:creationId xmlns:a16="http://schemas.microsoft.com/office/drawing/2014/main" id="{965C1756-F7C8-1A55-436B-5A58D9720A27}"/>
              </a:ext>
            </a:extLst>
          </p:cNvPr>
          <p:cNvSpPr/>
          <p:nvPr/>
        </p:nvSpPr>
        <p:spPr>
          <a:xfrm>
            <a:off x="4463378" y="3113085"/>
            <a:ext cx="1199183"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ModuleC.lvlib</a:t>
            </a:r>
            <a:endParaRPr lang="en-US" sz="1200" b="1" dirty="0">
              <a:solidFill>
                <a:schemeClr val="tx1"/>
              </a:solidFill>
            </a:endParaRPr>
          </a:p>
        </p:txBody>
      </p:sp>
      <p:sp>
        <p:nvSpPr>
          <p:cNvPr id="7" name="Rectangle 6">
            <a:extLst>
              <a:ext uri="{FF2B5EF4-FFF2-40B4-BE49-F238E27FC236}">
                <a16:creationId xmlns:a16="http://schemas.microsoft.com/office/drawing/2014/main" id="{D4E4787A-F3A2-2DC8-AA6F-665D8D66E0D7}"/>
              </a:ext>
            </a:extLst>
          </p:cNvPr>
          <p:cNvSpPr/>
          <p:nvPr/>
        </p:nvSpPr>
        <p:spPr>
          <a:xfrm>
            <a:off x="1702683" y="2232618"/>
            <a:ext cx="1130164"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ABComm.lvlib</a:t>
            </a:r>
            <a:endParaRPr lang="en-US" sz="1200" dirty="0">
              <a:solidFill>
                <a:schemeClr val="tx1"/>
              </a:solidFill>
            </a:endParaRPr>
          </a:p>
        </p:txBody>
      </p:sp>
      <p:sp>
        <p:nvSpPr>
          <p:cNvPr id="8" name="Rectangle 7">
            <a:extLst>
              <a:ext uri="{FF2B5EF4-FFF2-40B4-BE49-F238E27FC236}">
                <a16:creationId xmlns:a16="http://schemas.microsoft.com/office/drawing/2014/main" id="{4DBE6FA9-B662-F77F-5D34-94C4C85E2356}"/>
              </a:ext>
            </a:extLst>
          </p:cNvPr>
          <p:cNvSpPr/>
          <p:nvPr/>
        </p:nvSpPr>
        <p:spPr>
          <a:xfrm>
            <a:off x="3630706" y="2232618"/>
            <a:ext cx="1241612"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ACComm.lvlib</a:t>
            </a:r>
            <a:endParaRPr lang="en-US" sz="1200" dirty="0">
              <a:solidFill>
                <a:schemeClr val="tx1"/>
              </a:solidFill>
            </a:endParaRPr>
          </a:p>
        </p:txBody>
      </p:sp>
      <p:cxnSp>
        <p:nvCxnSpPr>
          <p:cNvPr id="9" name="Straight Arrow Connector 8">
            <a:extLst>
              <a:ext uri="{FF2B5EF4-FFF2-40B4-BE49-F238E27FC236}">
                <a16:creationId xmlns:a16="http://schemas.microsoft.com/office/drawing/2014/main" id="{8EF00C92-C380-81A8-042A-88E158528199}"/>
              </a:ext>
            </a:extLst>
          </p:cNvPr>
          <p:cNvCxnSpPr>
            <a:cxnSpLocks/>
            <a:stCxn id="4" idx="0"/>
            <a:endCxn id="7" idx="2"/>
          </p:cNvCxnSpPr>
          <p:nvPr/>
        </p:nvCxnSpPr>
        <p:spPr>
          <a:xfrm flipH="1" flipV="1">
            <a:off x="2267765" y="2673070"/>
            <a:ext cx="1017494" cy="445470"/>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ACE5147-9326-7631-83E0-0C9C5D2E3BF4}"/>
              </a:ext>
            </a:extLst>
          </p:cNvPr>
          <p:cNvCxnSpPr>
            <a:cxnSpLocks/>
            <a:stCxn id="4" idx="0"/>
            <a:endCxn id="8" idx="2"/>
          </p:cNvCxnSpPr>
          <p:nvPr/>
        </p:nvCxnSpPr>
        <p:spPr>
          <a:xfrm flipV="1">
            <a:off x="3285259" y="2673070"/>
            <a:ext cx="966253" cy="445470"/>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229DCE92-25EF-D1BF-07FE-708A2DD6235F}"/>
              </a:ext>
            </a:extLst>
          </p:cNvPr>
          <p:cNvCxnSpPr>
            <a:cxnSpLocks/>
            <a:stCxn id="5" idx="0"/>
            <a:endCxn id="7" idx="2"/>
          </p:cNvCxnSpPr>
          <p:nvPr/>
        </p:nvCxnSpPr>
        <p:spPr>
          <a:xfrm flipV="1">
            <a:off x="1268813" y="2673070"/>
            <a:ext cx="998952" cy="445470"/>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103B5F6-AEFA-16B5-B168-83C9E3081E23}"/>
              </a:ext>
            </a:extLst>
          </p:cNvPr>
          <p:cNvCxnSpPr>
            <a:cxnSpLocks/>
            <a:stCxn id="6" idx="0"/>
            <a:endCxn id="8" idx="2"/>
          </p:cNvCxnSpPr>
          <p:nvPr/>
        </p:nvCxnSpPr>
        <p:spPr>
          <a:xfrm flipH="1" flipV="1">
            <a:off x="4251512" y="2673070"/>
            <a:ext cx="811458" cy="440015"/>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0E3D5965-3035-FAFB-2230-A9EB7CECD6A0}"/>
              </a:ext>
            </a:extLst>
          </p:cNvPr>
          <p:cNvSpPr/>
          <p:nvPr/>
        </p:nvSpPr>
        <p:spPr>
          <a:xfrm>
            <a:off x="2621565" y="4208723"/>
            <a:ext cx="1332000"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FileUtilities.lvlib</a:t>
            </a:r>
            <a:endParaRPr lang="en-US" sz="1100" dirty="0">
              <a:solidFill>
                <a:schemeClr val="tx1"/>
              </a:solidFill>
            </a:endParaRPr>
          </a:p>
        </p:txBody>
      </p:sp>
      <p:sp>
        <p:nvSpPr>
          <p:cNvPr id="25" name="Rectangle 24">
            <a:extLst>
              <a:ext uri="{FF2B5EF4-FFF2-40B4-BE49-F238E27FC236}">
                <a16:creationId xmlns:a16="http://schemas.microsoft.com/office/drawing/2014/main" id="{3D55A483-0A45-8510-2931-5B5DD6384530}"/>
              </a:ext>
            </a:extLst>
          </p:cNvPr>
          <p:cNvSpPr/>
          <p:nvPr/>
        </p:nvSpPr>
        <p:spPr>
          <a:xfrm>
            <a:off x="605119" y="4208723"/>
            <a:ext cx="1332000"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StringUtilities.lvlib</a:t>
            </a:r>
            <a:endParaRPr lang="en-US" sz="1100" dirty="0">
              <a:solidFill>
                <a:schemeClr val="tx1"/>
              </a:solidFill>
            </a:endParaRPr>
          </a:p>
        </p:txBody>
      </p:sp>
      <p:sp>
        <p:nvSpPr>
          <p:cNvPr id="26" name="Rectangle 25">
            <a:extLst>
              <a:ext uri="{FF2B5EF4-FFF2-40B4-BE49-F238E27FC236}">
                <a16:creationId xmlns:a16="http://schemas.microsoft.com/office/drawing/2014/main" id="{7CC29D57-E33A-493F-1156-773100D033E2}"/>
              </a:ext>
            </a:extLst>
          </p:cNvPr>
          <p:cNvSpPr/>
          <p:nvPr/>
        </p:nvSpPr>
        <p:spPr>
          <a:xfrm>
            <a:off x="4396970" y="4220415"/>
            <a:ext cx="1332000" cy="440452"/>
          </a:xfrm>
          <a:prstGeom prst="rect">
            <a:avLst/>
          </a:prstGeom>
          <a:solidFill>
            <a:srgbClr val="BFD8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ArrayUtilities.lvlib</a:t>
            </a:r>
            <a:endParaRPr lang="en-US" sz="1100" dirty="0">
              <a:solidFill>
                <a:schemeClr val="tx1"/>
              </a:solidFill>
            </a:endParaRPr>
          </a:p>
        </p:txBody>
      </p:sp>
      <p:cxnSp>
        <p:nvCxnSpPr>
          <p:cNvPr id="44" name="Straight Arrow Connector 43">
            <a:extLst>
              <a:ext uri="{FF2B5EF4-FFF2-40B4-BE49-F238E27FC236}">
                <a16:creationId xmlns:a16="http://schemas.microsoft.com/office/drawing/2014/main" id="{224A9178-51AE-6507-8E69-1AA2C79CC7BD}"/>
              </a:ext>
            </a:extLst>
          </p:cNvPr>
          <p:cNvCxnSpPr>
            <a:cxnSpLocks/>
            <a:stCxn id="5" idx="2"/>
            <a:endCxn id="25" idx="0"/>
          </p:cNvCxnSpPr>
          <p:nvPr/>
        </p:nvCxnSpPr>
        <p:spPr>
          <a:xfrm>
            <a:off x="1268813" y="3558992"/>
            <a:ext cx="2306" cy="649731"/>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312818D6-46DD-6553-DE04-D098F3C55FB4}"/>
              </a:ext>
            </a:extLst>
          </p:cNvPr>
          <p:cNvCxnSpPr>
            <a:cxnSpLocks/>
            <a:stCxn id="4" idx="2"/>
            <a:endCxn id="24" idx="0"/>
          </p:cNvCxnSpPr>
          <p:nvPr/>
        </p:nvCxnSpPr>
        <p:spPr>
          <a:xfrm>
            <a:off x="3285259" y="3558992"/>
            <a:ext cx="2306" cy="649731"/>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1872BC94-026B-B99C-BA7F-5EDFF8DD3BBF}"/>
              </a:ext>
            </a:extLst>
          </p:cNvPr>
          <p:cNvCxnSpPr>
            <a:cxnSpLocks/>
            <a:stCxn id="6" idx="2"/>
            <a:endCxn id="26" idx="0"/>
          </p:cNvCxnSpPr>
          <p:nvPr/>
        </p:nvCxnSpPr>
        <p:spPr>
          <a:xfrm>
            <a:off x="5062970" y="3553537"/>
            <a:ext cx="0" cy="666878"/>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3E29FF3B-315B-2875-00B6-9E753C8AF9FC}"/>
              </a:ext>
            </a:extLst>
          </p:cNvPr>
          <p:cNvCxnSpPr>
            <a:cxnSpLocks/>
            <a:stCxn id="5" idx="2"/>
            <a:endCxn id="24" idx="0"/>
          </p:cNvCxnSpPr>
          <p:nvPr/>
        </p:nvCxnSpPr>
        <p:spPr>
          <a:xfrm>
            <a:off x="1268813" y="3558992"/>
            <a:ext cx="2018752" cy="649731"/>
          </a:xfrm>
          <a:prstGeom prst="straightConnector1">
            <a:avLst/>
          </a:prstGeom>
          <a:ln>
            <a:prstDash val="solid"/>
            <a:tailEnd type="triangle"/>
          </a:ln>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70A7B4CE-3013-2AA6-9EFF-4D6379258959}"/>
              </a:ext>
            </a:extLst>
          </p:cNvPr>
          <p:cNvSpPr/>
          <p:nvPr/>
        </p:nvSpPr>
        <p:spPr>
          <a:xfrm>
            <a:off x="6179410" y="1385887"/>
            <a:ext cx="5447813" cy="43330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200" b="1" u="sng" dirty="0"/>
              <a:t>Overview: Similar to previous example with few additional libraries</a:t>
            </a:r>
          </a:p>
          <a:p>
            <a:pPr>
              <a:lnSpc>
                <a:spcPct val="150000"/>
              </a:lnSpc>
            </a:pPr>
            <a:r>
              <a:rPr lang="en-US" sz="1200" dirty="0"/>
              <a:t>✅ Modules A, B and C are asynchronously running modules</a:t>
            </a:r>
          </a:p>
          <a:p>
            <a:pPr>
              <a:lnSpc>
                <a:spcPct val="150000"/>
              </a:lnSpc>
            </a:pPr>
            <a:r>
              <a:rPr lang="en-US" sz="1200" dirty="0"/>
              <a:t>✅ Module A can communicate to the Module B and Module C using the Communication libraries (</a:t>
            </a:r>
            <a:r>
              <a:rPr lang="en-US" sz="1200" dirty="0" err="1"/>
              <a:t>ABComm.lvlib</a:t>
            </a:r>
            <a:r>
              <a:rPr lang="en-US" sz="1200" dirty="0"/>
              <a:t> and </a:t>
            </a:r>
            <a:r>
              <a:rPr lang="en-US" sz="1200" dirty="0" err="1"/>
              <a:t>ACComm.lvlib</a:t>
            </a:r>
            <a:r>
              <a:rPr lang="en-US" sz="1200" dirty="0"/>
              <a:t>).</a:t>
            </a:r>
          </a:p>
          <a:p>
            <a:pPr>
              <a:lnSpc>
                <a:spcPct val="150000"/>
              </a:lnSpc>
            </a:pPr>
            <a:endParaRPr lang="en-US" sz="1200" dirty="0"/>
          </a:p>
          <a:p>
            <a:pPr>
              <a:lnSpc>
                <a:spcPct val="150000"/>
              </a:lnSpc>
            </a:pPr>
            <a:r>
              <a:rPr lang="en-US" sz="1200" b="1" u="sng" dirty="0"/>
              <a:t>Separation of Concerns</a:t>
            </a:r>
          </a:p>
          <a:p>
            <a:pPr>
              <a:lnSpc>
                <a:spcPct val="150000"/>
              </a:lnSpc>
            </a:pPr>
            <a:r>
              <a:rPr lang="en-US" sz="1200" dirty="0"/>
              <a:t>✅ Modules A, B and C should not be dependent on each other.</a:t>
            </a:r>
          </a:p>
          <a:p>
            <a:pPr>
              <a:lnSpc>
                <a:spcPct val="150000"/>
              </a:lnSpc>
            </a:pPr>
            <a:r>
              <a:rPr lang="en-US" sz="1200" dirty="0"/>
              <a:t>✅ Communication Libraries should not implement any functionalities using the low level utilities.</a:t>
            </a:r>
          </a:p>
          <a:p>
            <a:pPr>
              <a:lnSpc>
                <a:spcPct val="150000"/>
              </a:lnSpc>
            </a:pPr>
            <a:endParaRPr lang="en-US" sz="1200" dirty="0"/>
          </a:p>
          <a:p>
            <a:pPr>
              <a:lnSpc>
                <a:spcPct val="150000"/>
              </a:lnSpc>
            </a:pPr>
            <a:r>
              <a:rPr lang="en-US" sz="1200" dirty="0"/>
              <a:t>Note:</a:t>
            </a:r>
          </a:p>
          <a:p>
            <a:pPr marL="171450" indent="-171450">
              <a:lnSpc>
                <a:spcPct val="150000"/>
              </a:lnSpc>
              <a:buFont typeface="Arial" panose="020B0604020202020204" pitchFamily="34" charset="0"/>
              <a:buChar char="•"/>
            </a:pPr>
            <a:r>
              <a:rPr lang="en-US" sz="1200" dirty="0"/>
              <a:t>Main.vi of Modules A,B, C can be run independently or a separate </a:t>
            </a:r>
            <a:r>
              <a:rPr lang="en-US" sz="1200" dirty="0" err="1"/>
              <a:t>AppLauncher.lvlib:Launcher.vi</a:t>
            </a:r>
            <a:r>
              <a:rPr lang="en-US" sz="1200" dirty="0"/>
              <a:t> can be  used to launch them.</a:t>
            </a:r>
          </a:p>
          <a:p>
            <a:pPr>
              <a:lnSpc>
                <a:spcPct val="150000"/>
              </a:lnSpc>
            </a:pPr>
            <a:endParaRPr lang="en-US" sz="1200" dirty="0"/>
          </a:p>
        </p:txBody>
      </p:sp>
    </p:spTree>
    <p:extLst>
      <p:ext uri="{BB962C8B-B14F-4D97-AF65-F5344CB8AC3E}">
        <p14:creationId xmlns:p14="http://schemas.microsoft.com/office/powerpoint/2010/main" val="2140421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9FEC2-1084-062E-AE2A-37254D8DFC24}"/>
              </a:ext>
            </a:extLst>
          </p:cNvPr>
          <p:cNvSpPr>
            <a:spLocks noGrp="1"/>
          </p:cNvSpPr>
          <p:nvPr>
            <p:ph type="title"/>
          </p:nvPr>
        </p:nvSpPr>
        <p:spPr>
          <a:xfrm>
            <a:off x="838200" y="246715"/>
            <a:ext cx="10515600" cy="634794"/>
          </a:xfrm>
        </p:spPr>
        <p:txBody>
          <a:bodyPr>
            <a:normAutofit fontScale="90000"/>
          </a:bodyPr>
          <a:lstStyle/>
          <a:p>
            <a:r>
              <a:rPr lang="en-IN" dirty="0"/>
              <a:t>Dependency Visualization Tools</a:t>
            </a:r>
          </a:p>
        </p:txBody>
      </p:sp>
      <p:sp>
        <p:nvSpPr>
          <p:cNvPr id="3" name="Content Placeholder 2">
            <a:extLst>
              <a:ext uri="{FF2B5EF4-FFF2-40B4-BE49-F238E27FC236}">
                <a16:creationId xmlns:a16="http://schemas.microsoft.com/office/drawing/2014/main" id="{48393F16-ABB0-7569-8D8D-7EDE66D508D6}"/>
              </a:ext>
            </a:extLst>
          </p:cNvPr>
          <p:cNvSpPr>
            <a:spLocks noGrp="1"/>
          </p:cNvSpPr>
          <p:nvPr>
            <p:ph idx="1"/>
          </p:nvPr>
        </p:nvSpPr>
        <p:spPr>
          <a:xfrm>
            <a:off x="7117848" y="1532770"/>
            <a:ext cx="4400961" cy="3124749"/>
          </a:xfrm>
        </p:spPr>
        <p:txBody>
          <a:bodyPr>
            <a:normAutofit fontScale="85000" lnSpcReduction="20000"/>
          </a:bodyPr>
          <a:lstStyle/>
          <a:p>
            <a:pPr>
              <a:lnSpc>
                <a:spcPct val="150000"/>
              </a:lnSpc>
            </a:pPr>
            <a:r>
              <a:rPr lang="en-US" dirty="0"/>
              <a:t>generate_full_dependency_graph.py</a:t>
            </a:r>
          </a:p>
          <a:p>
            <a:pPr lvl="1">
              <a:lnSpc>
                <a:spcPct val="150000"/>
              </a:lnSpc>
            </a:pPr>
            <a:r>
              <a:rPr lang="en-US" dirty="0"/>
              <a:t>Script to generate a visualization for all the libraries and its dependencies.</a:t>
            </a:r>
          </a:p>
          <a:p>
            <a:pPr lvl="1">
              <a:lnSpc>
                <a:spcPct val="150000"/>
              </a:lnSpc>
            </a:pPr>
            <a:r>
              <a:rPr lang="en-US" dirty="0"/>
              <a:t>Uses the details available in the ActualDepsList.adeps</a:t>
            </a:r>
          </a:p>
        </p:txBody>
      </p:sp>
      <p:pic>
        <p:nvPicPr>
          <p:cNvPr id="5" name="Picture 4">
            <a:extLst>
              <a:ext uri="{FF2B5EF4-FFF2-40B4-BE49-F238E27FC236}">
                <a16:creationId xmlns:a16="http://schemas.microsoft.com/office/drawing/2014/main" id="{C27821DB-5EFD-4961-0045-3445E5319A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128" y="1124909"/>
            <a:ext cx="6667500" cy="4762500"/>
          </a:xfrm>
          <a:prstGeom prst="rect">
            <a:avLst/>
          </a:prstGeom>
        </p:spPr>
      </p:pic>
    </p:spTree>
    <p:extLst>
      <p:ext uri="{BB962C8B-B14F-4D97-AF65-F5344CB8AC3E}">
        <p14:creationId xmlns:p14="http://schemas.microsoft.com/office/powerpoint/2010/main" val="2815105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26C9-7193-ACE9-F376-68A8B4527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02D96-D278-67A4-B53B-04DEDDBD00F1}"/>
              </a:ext>
            </a:extLst>
          </p:cNvPr>
          <p:cNvSpPr>
            <a:spLocks noGrp="1"/>
          </p:cNvSpPr>
          <p:nvPr>
            <p:ph type="title"/>
          </p:nvPr>
        </p:nvSpPr>
        <p:spPr>
          <a:xfrm>
            <a:off x="838200" y="246715"/>
            <a:ext cx="10515600" cy="634794"/>
          </a:xfrm>
        </p:spPr>
        <p:txBody>
          <a:bodyPr>
            <a:normAutofit fontScale="90000"/>
          </a:bodyPr>
          <a:lstStyle/>
          <a:p>
            <a:r>
              <a:rPr lang="en-IN" dirty="0"/>
              <a:t>Dependency Visualization Tools</a:t>
            </a:r>
          </a:p>
        </p:txBody>
      </p:sp>
      <p:sp>
        <p:nvSpPr>
          <p:cNvPr id="3" name="Content Placeholder 2">
            <a:extLst>
              <a:ext uri="{FF2B5EF4-FFF2-40B4-BE49-F238E27FC236}">
                <a16:creationId xmlns:a16="http://schemas.microsoft.com/office/drawing/2014/main" id="{70B932A9-53FA-766C-2B8B-869C85D0A9BF}"/>
              </a:ext>
            </a:extLst>
          </p:cNvPr>
          <p:cNvSpPr>
            <a:spLocks noGrp="1"/>
          </p:cNvSpPr>
          <p:nvPr>
            <p:ph idx="1"/>
          </p:nvPr>
        </p:nvSpPr>
        <p:spPr>
          <a:xfrm>
            <a:off x="605215" y="993340"/>
            <a:ext cx="10867546" cy="1978460"/>
          </a:xfrm>
        </p:spPr>
        <p:txBody>
          <a:bodyPr>
            <a:normAutofit fontScale="62500" lnSpcReduction="20000"/>
          </a:bodyPr>
          <a:lstStyle/>
          <a:p>
            <a:pPr>
              <a:lnSpc>
                <a:spcPct val="150000"/>
              </a:lnSpc>
            </a:pPr>
            <a:r>
              <a:rPr lang="en-US" dirty="0"/>
              <a:t>generate_dependency_graph_for_selected_nodes.py</a:t>
            </a:r>
          </a:p>
          <a:p>
            <a:pPr lvl="1">
              <a:lnSpc>
                <a:spcPct val="150000"/>
              </a:lnSpc>
            </a:pPr>
            <a:r>
              <a:rPr lang="en-US" dirty="0"/>
              <a:t>Script to generate a visualization for selected libraries.</a:t>
            </a:r>
          </a:p>
          <a:p>
            <a:pPr lvl="1">
              <a:lnSpc>
                <a:spcPct val="150000"/>
              </a:lnSpc>
            </a:pPr>
            <a:r>
              <a:rPr lang="en-US" dirty="0"/>
              <a:t>Selected libraries are passed using argument --nodes</a:t>
            </a:r>
          </a:p>
          <a:p>
            <a:pPr lvl="2">
              <a:lnSpc>
                <a:spcPct val="150000"/>
              </a:lnSpc>
            </a:pPr>
            <a:r>
              <a:rPr lang="en-US" dirty="0"/>
              <a:t>python generate_dependency_graph_for_selected_nodes.py --nodes </a:t>
            </a:r>
            <a:r>
              <a:rPr lang="en-US" dirty="0" err="1"/>
              <a:t>ModuleA</a:t>
            </a:r>
            <a:r>
              <a:rPr lang="en-US" dirty="0"/>
              <a:t> </a:t>
            </a:r>
            <a:r>
              <a:rPr lang="en-US" dirty="0" err="1"/>
              <a:t>FileUtilities</a:t>
            </a:r>
            <a:r>
              <a:rPr lang="en-US" dirty="0"/>
              <a:t> </a:t>
            </a:r>
            <a:r>
              <a:rPr lang="en-US" dirty="0" err="1"/>
              <a:t>ModuleB</a:t>
            </a:r>
            <a:endParaRPr lang="en-US" dirty="0"/>
          </a:p>
          <a:p>
            <a:pPr lvl="1">
              <a:lnSpc>
                <a:spcPct val="150000"/>
              </a:lnSpc>
            </a:pPr>
            <a:r>
              <a:rPr lang="en-US" dirty="0"/>
              <a:t>Generates separate graph for each selected node.</a:t>
            </a:r>
          </a:p>
        </p:txBody>
      </p:sp>
      <p:pic>
        <p:nvPicPr>
          <p:cNvPr id="6" name="Picture 5">
            <a:extLst>
              <a:ext uri="{FF2B5EF4-FFF2-40B4-BE49-F238E27FC236}">
                <a16:creationId xmlns:a16="http://schemas.microsoft.com/office/drawing/2014/main" id="{1CB7BCED-224A-EBC1-33D6-A7C4DBAEB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42" y="3429000"/>
            <a:ext cx="3528000" cy="2520000"/>
          </a:xfrm>
          <a:prstGeom prst="rect">
            <a:avLst/>
          </a:prstGeom>
        </p:spPr>
      </p:pic>
      <p:pic>
        <p:nvPicPr>
          <p:cNvPr id="8" name="Picture 7">
            <a:extLst>
              <a:ext uri="{FF2B5EF4-FFF2-40B4-BE49-F238E27FC236}">
                <a16:creationId xmlns:a16="http://schemas.microsoft.com/office/drawing/2014/main" id="{7E8E65E2-CE79-DADE-206D-9123698FDE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7153" y="3429000"/>
            <a:ext cx="3528000" cy="2520000"/>
          </a:xfrm>
          <a:prstGeom prst="rect">
            <a:avLst/>
          </a:prstGeom>
        </p:spPr>
      </p:pic>
      <p:pic>
        <p:nvPicPr>
          <p:cNvPr id="10" name="Picture 9">
            <a:extLst>
              <a:ext uri="{FF2B5EF4-FFF2-40B4-BE49-F238E27FC236}">
                <a16:creationId xmlns:a16="http://schemas.microsoft.com/office/drawing/2014/main" id="{880CE59F-CC05-1603-AA46-79F5D5F6F2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6867" y="3429000"/>
            <a:ext cx="3528000" cy="2520000"/>
          </a:xfrm>
          <a:prstGeom prst="rect">
            <a:avLst/>
          </a:prstGeom>
        </p:spPr>
      </p:pic>
    </p:spTree>
    <p:extLst>
      <p:ext uri="{BB962C8B-B14F-4D97-AF65-F5344CB8AC3E}">
        <p14:creationId xmlns:p14="http://schemas.microsoft.com/office/powerpoint/2010/main" val="238647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53EC0-361C-61E7-EA13-ABEF139DBD12}"/>
              </a:ext>
            </a:extLst>
          </p:cNvPr>
          <p:cNvSpPr>
            <a:spLocks noGrp="1"/>
          </p:cNvSpPr>
          <p:nvPr>
            <p:ph type="title"/>
          </p:nvPr>
        </p:nvSpPr>
        <p:spPr>
          <a:xfrm>
            <a:off x="651164" y="88034"/>
            <a:ext cx="10515600" cy="1325563"/>
          </a:xfrm>
        </p:spPr>
        <p:txBody>
          <a:bodyPr>
            <a:normAutofit fontScale="90000"/>
          </a:bodyPr>
          <a:lstStyle/>
          <a:p>
            <a:r>
              <a:rPr lang="en-US" sz="4000" dirty="0"/>
              <a:t>Additional CI Pipeline Checks – Yet to be implemented</a:t>
            </a:r>
            <a:br>
              <a:rPr lang="en-US" dirty="0"/>
            </a:br>
            <a:r>
              <a:rPr lang="en-US" sz="2400" dirty="0"/>
              <a:t>For effective dependency monitoring and improved code quality</a:t>
            </a:r>
            <a:endParaRPr lang="en-IN" dirty="0"/>
          </a:p>
        </p:txBody>
      </p:sp>
      <p:sp>
        <p:nvSpPr>
          <p:cNvPr id="3" name="Content Placeholder 2">
            <a:extLst>
              <a:ext uri="{FF2B5EF4-FFF2-40B4-BE49-F238E27FC236}">
                <a16:creationId xmlns:a16="http://schemas.microsoft.com/office/drawing/2014/main" id="{9CDAFF28-000E-45EA-41F6-2D7FF5380C7E}"/>
              </a:ext>
            </a:extLst>
          </p:cNvPr>
          <p:cNvSpPr>
            <a:spLocks noGrp="1"/>
          </p:cNvSpPr>
          <p:nvPr>
            <p:ph idx="1"/>
          </p:nvPr>
        </p:nvSpPr>
        <p:spPr>
          <a:xfrm>
            <a:off x="651164" y="1593273"/>
            <a:ext cx="10702636" cy="4583690"/>
          </a:xfrm>
        </p:spPr>
        <p:txBody>
          <a:bodyPr/>
          <a:lstStyle/>
          <a:p>
            <a:pPr marL="514350" indent="-514350">
              <a:lnSpc>
                <a:spcPct val="150000"/>
              </a:lnSpc>
              <a:buAutoNum type="arabicPeriod"/>
            </a:pPr>
            <a:r>
              <a:rPr lang="en-US" sz="2000" dirty="0"/>
              <a:t>✅ Check if every file is associated with a specific library (.</a:t>
            </a:r>
            <a:r>
              <a:rPr lang="en-US" sz="2000" dirty="0" err="1"/>
              <a:t>lvlib</a:t>
            </a:r>
            <a:r>
              <a:rPr lang="en-US" sz="2000" dirty="0"/>
              <a:t>)</a:t>
            </a:r>
          </a:p>
          <a:p>
            <a:pPr marL="971550" lvl="1" indent="-514350">
              <a:lnSpc>
                <a:spcPct val="150000"/>
              </a:lnSpc>
              <a:buFont typeface="+mj-lt"/>
              <a:buAutoNum type="alphaLcPeriod"/>
            </a:pPr>
            <a:r>
              <a:rPr lang="en-IN" sz="1800" dirty="0"/>
              <a:t>If there are VIs not associated to library, then it can introduce unnecessary dependencies.</a:t>
            </a:r>
          </a:p>
          <a:p>
            <a:pPr marL="514350" indent="-514350">
              <a:lnSpc>
                <a:spcPct val="150000"/>
              </a:lnSpc>
              <a:buFont typeface="+mj-lt"/>
              <a:buAutoNum type="arabicPeriod"/>
            </a:pPr>
            <a:r>
              <a:rPr lang="en-US" sz="2000" dirty="0"/>
              <a:t>✅ Check if Source Code is separated from Compiled Code.</a:t>
            </a:r>
          </a:p>
          <a:p>
            <a:pPr marL="971550" lvl="1" indent="-514350">
              <a:lnSpc>
                <a:spcPct val="150000"/>
              </a:lnSpc>
              <a:buFont typeface="+mj-lt"/>
              <a:buAutoNum type="alphaLcPeriod"/>
            </a:pPr>
            <a:r>
              <a:rPr lang="en-IN" sz="1800" dirty="0"/>
              <a:t>Reduces file changes in Pull requests</a:t>
            </a:r>
          </a:p>
          <a:p>
            <a:pPr marL="514350" indent="-514350">
              <a:lnSpc>
                <a:spcPct val="150000"/>
              </a:lnSpc>
              <a:buFont typeface="+mj-lt"/>
              <a:buAutoNum type="arabicPeriod"/>
            </a:pPr>
            <a:r>
              <a:rPr lang="en-US" sz="2000" dirty="0"/>
              <a:t>✅ Ensuring Build Readiness</a:t>
            </a:r>
          </a:p>
          <a:p>
            <a:pPr marL="971550" lvl="1" indent="-514350">
              <a:lnSpc>
                <a:spcPct val="150000"/>
              </a:lnSpc>
              <a:buFont typeface="+mj-lt"/>
              <a:buAutoNum type="alphaLcPeriod"/>
            </a:pPr>
            <a:r>
              <a:rPr lang="en-IN" sz="1800" dirty="0"/>
              <a:t>Check for missing VIs, Incorrectly claimed libraries, Broken VIs</a:t>
            </a:r>
          </a:p>
          <a:p>
            <a:pPr marL="971550" lvl="1" indent="-514350">
              <a:lnSpc>
                <a:spcPct val="150000"/>
              </a:lnSpc>
              <a:buFont typeface="+mj-lt"/>
              <a:buAutoNum type="alphaLcPeriod"/>
            </a:pPr>
            <a:r>
              <a:rPr lang="en-IN" sz="1800" dirty="0"/>
              <a:t>Check if every library is added to at least one of the build specification.</a:t>
            </a:r>
          </a:p>
          <a:p>
            <a:pPr marL="0" indent="0">
              <a:buNone/>
            </a:pPr>
            <a:endParaRPr lang="en-US" dirty="0"/>
          </a:p>
        </p:txBody>
      </p:sp>
    </p:spTree>
    <p:extLst>
      <p:ext uri="{BB962C8B-B14F-4D97-AF65-F5344CB8AC3E}">
        <p14:creationId xmlns:p14="http://schemas.microsoft.com/office/powerpoint/2010/main" val="1667410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FA2A-E7C2-E594-EF1A-2653A473E041}"/>
              </a:ext>
            </a:extLst>
          </p:cNvPr>
          <p:cNvSpPr>
            <a:spLocks noGrp="1"/>
          </p:cNvSpPr>
          <p:nvPr>
            <p:ph type="title"/>
          </p:nvPr>
        </p:nvSpPr>
        <p:spPr>
          <a:xfrm>
            <a:off x="838200" y="365126"/>
            <a:ext cx="10515600" cy="867930"/>
          </a:xfrm>
        </p:spPr>
        <p:txBody>
          <a:bodyPr/>
          <a:lstStyle/>
          <a:p>
            <a:r>
              <a:rPr lang="en-IN" dirty="0"/>
              <a:t>Short Introduction to Coupling Metrics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5A27F9B-AE5D-11C5-51AF-7326CCAABECF}"/>
                  </a:ext>
                </a:extLst>
              </p:cNvPr>
              <p:cNvSpPr>
                <a:spLocks noGrp="1"/>
              </p:cNvSpPr>
              <p:nvPr>
                <p:ph idx="1"/>
              </p:nvPr>
            </p:nvSpPr>
            <p:spPr>
              <a:xfrm>
                <a:off x="595746" y="1233056"/>
                <a:ext cx="10758054" cy="4675910"/>
              </a:xfrm>
            </p:spPr>
            <p:txBody>
              <a:bodyPr>
                <a:normAutofit/>
              </a:bodyPr>
              <a:lstStyle/>
              <a:p>
                <a:pPr>
                  <a:lnSpc>
                    <a:spcPct val="150000"/>
                  </a:lnSpc>
                </a:pPr>
                <a:r>
                  <a:rPr lang="en-US" sz="1800" dirty="0"/>
                  <a:t>What is loose coupling?</a:t>
                </a:r>
              </a:p>
              <a:p>
                <a:pPr lvl="1">
                  <a:lnSpc>
                    <a:spcPct val="150000"/>
                  </a:lnSpc>
                </a:pPr>
                <a:r>
                  <a:rPr lang="en-US" sz="1800" dirty="0"/>
                  <a:t>A system is loosely coupled system when individual software component (libraries) require less or no knowledge on other components to operate or function. </a:t>
                </a:r>
              </a:p>
              <a:p>
                <a:pPr>
                  <a:lnSpc>
                    <a:spcPct val="150000"/>
                  </a:lnSpc>
                </a:pPr>
                <a:r>
                  <a:rPr lang="en-US" sz="1800" dirty="0"/>
                  <a:t>Afferent Coupling (</a:t>
                </a:r>
                <a14:m>
                  <m:oMath xmlns:m="http://schemas.openxmlformats.org/officeDocument/2006/math">
                    <m:sSub>
                      <m:sSubPr>
                        <m:ctrlPr>
                          <a:rPr lang="en-IN" sz="1800" i="1">
                            <a:latin typeface="Cambria Math" panose="02040503050406030204" pitchFamily="18" charset="0"/>
                          </a:rPr>
                        </m:ctrlPr>
                      </m:sSubPr>
                      <m:e>
                        <m:r>
                          <a:rPr lang="en-IN" sz="1800" i="1">
                            <a:latin typeface="Cambria Math" panose="02040503050406030204" pitchFamily="18" charset="0"/>
                          </a:rPr>
                          <m:t>𝐶</m:t>
                        </m:r>
                      </m:e>
                      <m:sub>
                        <m:r>
                          <a:rPr lang="en-IN" sz="1800" b="0" i="1" smtClean="0">
                            <a:latin typeface="Cambria Math" panose="02040503050406030204" pitchFamily="18" charset="0"/>
                          </a:rPr>
                          <m:t>𝑎</m:t>
                        </m:r>
                      </m:sub>
                    </m:sSub>
                  </m:oMath>
                </a14:m>
                <a:r>
                  <a:rPr lang="en-US" sz="1800" dirty="0"/>
                  <a:t>)</a:t>
                </a:r>
              </a:p>
              <a:p>
                <a:pPr lvl="1">
                  <a:lnSpc>
                    <a:spcPct val="150000"/>
                  </a:lnSpc>
                </a:pPr>
                <a:r>
                  <a:rPr lang="en-US" sz="1800" dirty="0"/>
                  <a:t>The number of modules depend on a specific module.</a:t>
                </a:r>
              </a:p>
              <a:p>
                <a:pPr lvl="1">
                  <a:lnSpc>
                    <a:spcPct val="150000"/>
                  </a:lnSpc>
                </a:pPr>
                <a:r>
                  <a:rPr lang="en-US" sz="1800" dirty="0"/>
                  <a:t>In short: "Who depends on you?". This measures a module’s responsibility.</a:t>
                </a:r>
              </a:p>
              <a:p>
                <a:pPr>
                  <a:lnSpc>
                    <a:spcPct val="150000"/>
                  </a:lnSpc>
                </a:pPr>
                <a:r>
                  <a:rPr lang="en-US" sz="1800" dirty="0"/>
                  <a:t>Efferent Coupling (</a:t>
                </a:r>
                <a14:m>
                  <m:oMath xmlns:m="http://schemas.openxmlformats.org/officeDocument/2006/math">
                    <m:sSub>
                      <m:sSubPr>
                        <m:ctrlPr>
                          <a:rPr lang="en-IN" sz="1800" i="1">
                            <a:latin typeface="Cambria Math" panose="02040503050406030204" pitchFamily="18" charset="0"/>
                          </a:rPr>
                        </m:ctrlPr>
                      </m:sSubPr>
                      <m:e>
                        <m:r>
                          <a:rPr lang="en-IN" sz="1800" i="1">
                            <a:latin typeface="Cambria Math" panose="02040503050406030204" pitchFamily="18" charset="0"/>
                          </a:rPr>
                          <m:t>𝐶</m:t>
                        </m:r>
                      </m:e>
                      <m:sub>
                        <m:r>
                          <a:rPr lang="en-IN" sz="1800" i="1">
                            <a:latin typeface="Cambria Math" panose="02040503050406030204" pitchFamily="18" charset="0"/>
                          </a:rPr>
                          <m:t>𝑒</m:t>
                        </m:r>
                      </m:sub>
                    </m:sSub>
                  </m:oMath>
                </a14:m>
                <a:r>
                  <a:rPr lang="en-US" sz="1800" dirty="0"/>
                  <a:t>)</a:t>
                </a:r>
              </a:p>
              <a:p>
                <a:pPr lvl="1">
                  <a:lnSpc>
                    <a:spcPct val="150000"/>
                  </a:lnSpc>
                </a:pPr>
                <a:r>
                  <a:rPr lang="en-US" sz="1800" dirty="0"/>
                  <a:t>The number of modules on which a module depends on.</a:t>
                </a:r>
              </a:p>
              <a:p>
                <a:pPr lvl="1">
                  <a:lnSpc>
                    <a:spcPct val="150000"/>
                  </a:lnSpc>
                </a:pPr>
                <a:r>
                  <a:rPr lang="en-US" sz="1800" dirty="0"/>
                  <a:t>In short: "Who do you depend on?". It measures a module’s dependence on external factors.</a:t>
                </a:r>
              </a:p>
            </p:txBody>
          </p:sp>
        </mc:Choice>
        <mc:Fallback>
          <p:sp>
            <p:nvSpPr>
              <p:cNvPr id="3" name="Content Placeholder 2">
                <a:extLst>
                  <a:ext uri="{FF2B5EF4-FFF2-40B4-BE49-F238E27FC236}">
                    <a16:creationId xmlns:a16="http://schemas.microsoft.com/office/drawing/2014/main" id="{55A27F9B-AE5D-11C5-51AF-7326CCAABECF}"/>
                  </a:ext>
                </a:extLst>
              </p:cNvPr>
              <p:cNvSpPr>
                <a:spLocks noGrp="1" noRot="1" noChangeAspect="1" noMove="1" noResize="1" noEditPoints="1" noAdjustHandles="1" noChangeArrowheads="1" noChangeShapeType="1" noTextEdit="1"/>
              </p:cNvSpPr>
              <p:nvPr>
                <p:ph idx="1"/>
              </p:nvPr>
            </p:nvSpPr>
            <p:spPr>
              <a:xfrm>
                <a:off x="595746" y="1233056"/>
                <a:ext cx="10758054" cy="4675910"/>
              </a:xfrm>
              <a:blipFill>
                <a:blip r:embed="rId2"/>
                <a:stretch>
                  <a:fillRect l="-397" r="-510"/>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AB788F6C-E5B2-DF22-3C51-0B7FB375DDF0}"/>
              </a:ext>
            </a:extLst>
          </p:cNvPr>
          <p:cNvSpPr txBox="1"/>
          <p:nvPr/>
        </p:nvSpPr>
        <p:spPr>
          <a:xfrm>
            <a:off x="716973" y="5743800"/>
            <a:ext cx="10515600" cy="861774"/>
          </a:xfrm>
          <a:prstGeom prst="rect">
            <a:avLst/>
          </a:prstGeom>
          <a:noFill/>
        </p:spPr>
        <p:txBody>
          <a:bodyPr wrap="square" rtlCol="0">
            <a:spAutoFit/>
          </a:bodyPr>
          <a:lstStyle/>
          <a:p>
            <a:r>
              <a:rPr lang="en-IN" sz="1600" u="sng" dirty="0"/>
              <a:t>References: </a:t>
            </a:r>
          </a:p>
          <a:p>
            <a:pPr marL="342900" indent="-342900">
              <a:buAutoNum type="arabicPeriod"/>
            </a:pPr>
            <a:r>
              <a:rPr lang="en-IN" sz="1600" dirty="0"/>
              <a:t>Robert C. Martin (2002). Agile Software Development: Principles, Patterns, and Practices.</a:t>
            </a:r>
          </a:p>
          <a:p>
            <a:pPr marL="342900" indent="-342900">
              <a:buAutoNum type="arabicPeriod"/>
            </a:pPr>
            <a:r>
              <a:rPr lang="en-IN" sz="1600" dirty="0">
                <a:hlinkClick r:id="rId3"/>
              </a:rPr>
              <a:t>https://en.wikipedia.org/wiki/Software_package_metrics</a:t>
            </a:r>
            <a:endParaRPr lang="en-IN" sz="1600" dirty="0"/>
          </a:p>
        </p:txBody>
      </p:sp>
    </p:spTree>
    <p:extLst>
      <p:ext uri="{BB962C8B-B14F-4D97-AF65-F5344CB8AC3E}">
        <p14:creationId xmlns:p14="http://schemas.microsoft.com/office/powerpoint/2010/main" val="2760873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E5426-C6F2-9BC0-F08E-198F703F7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37E1F-2FCC-6305-3CBB-282543BAB3DE}"/>
              </a:ext>
            </a:extLst>
          </p:cNvPr>
          <p:cNvSpPr>
            <a:spLocks noGrp="1"/>
          </p:cNvSpPr>
          <p:nvPr>
            <p:ph type="title"/>
          </p:nvPr>
        </p:nvSpPr>
        <p:spPr>
          <a:xfrm>
            <a:off x="838200" y="365126"/>
            <a:ext cx="10515600" cy="902566"/>
          </a:xfrm>
        </p:spPr>
        <p:txBody>
          <a:bodyPr/>
          <a:lstStyle/>
          <a:p>
            <a:r>
              <a:rPr lang="en-IN" dirty="0"/>
              <a:t>Short Introduction to Coupling Metrics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C07A665-BEC8-9CDC-4321-237A540AD759}"/>
                  </a:ext>
                </a:extLst>
              </p:cNvPr>
              <p:cNvSpPr>
                <a:spLocks noGrp="1"/>
              </p:cNvSpPr>
              <p:nvPr>
                <p:ph idx="1"/>
              </p:nvPr>
            </p:nvSpPr>
            <p:spPr>
              <a:xfrm>
                <a:off x="538042" y="1263226"/>
                <a:ext cx="11229310" cy="4675910"/>
              </a:xfrm>
            </p:spPr>
            <p:txBody>
              <a:bodyPr>
                <a:noAutofit/>
              </a:bodyPr>
              <a:lstStyle/>
              <a:p>
                <a:pPr>
                  <a:lnSpc>
                    <a:spcPct val="150000"/>
                  </a:lnSpc>
                </a:pPr>
                <a:r>
                  <a:rPr lang="en-US" sz="1800" dirty="0"/>
                  <a:t>Instability Factor (</a:t>
                </a:r>
                <a14:m>
                  <m:oMath xmlns:m="http://schemas.openxmlformats.org/officeDocument/2006/math">
                    <m:r>
                      <a:rPr lang="en-IN" sz="1800" i="1">
                        <a:latin typeface="Cambria Math" panose="02040503050406030204" pitchFamily="18" charset="0"/>
                      </a:rPr>
                      <m:t>𝐼</m:t>
                    </m:r>
                  </m:oMath>
                </a14:m>
                <a:r>
                  <a:rPr lang="en-US" sz="1800" dirty="0"/>
                  <a:t>)</a:t>
                </a:r>
              </a:p>
              <a:p>
                <a:pPr lvl="1">
                  <a:lnSpc>
                    <a:spcPct val="150000"/>
                  </a:lnSpc>
                </a:pPr>
                <a:r>
                  <a:rPr lang="en-US" sz="1800" dirty="0"/>
                  <a:t>The ratio of outward dependencies to total dependencies, calculated as:</a:t>
                </a:r>
              </a:p>
              <a:p>
                <a:pPr lvl="1">
                  <a:lnSpc>
                    <a:spcPct val="150000"/>
                  </a:lnSpc>
                </a:pPr>
                <a14:m>
                  <m:oMath xmlns:m="http://schemas.openxmlformats.org/officeDocument/2006/math">
                    <m:r>
                      <a:rPr lang="en-IN" sz="1800" i="1">
                        <a:latin typeface="Cambria Math" panose="02040503050406030204" pitchFamily="18" charset="0"/>
                      </a:rPr>
                      <m:t>𝐼</m:t>
                    </m:r>
                    <m:r>
                      <a:rPr lang="en-IN" sz="1800" i="1">
                        <a:latin typeface="Cambria Math" panose="02040503050406030204" pitchFamily="18" charset="0"/>
                      </a:rPr>
                      <m:t>=</m:t>
                    </m:r>
                    <m:f>
                      <m:fPr>
                        <m:ctrlPr>
                          <a:rPr lang="en-IN" sz="1800" i="1">
                            <a:latin typeface="Cambria Math" panose="02040503050406030204" pitchFamily="18" charset="0"/>
                          </a:rPr>
                        </m:ctrlPr>
                      </m:fPr>
                      <m:num>
                        <m:sSub>
                          <m:sSubPr>
                            <m:ctrlPr>
                              <a:rPr lang="en-IN" sz="1800" i="1">
                                <a:latin typeface="Cambria Math" panose="02040503050406030204" pitchFamily="18" charset="0"/>
                              </a:rPr>
                            </m:ctrlPr>
                          </m:sSubPr>
                          <m:e>
                            <m:r>
                              <a:rPr lang="en-IN" sz="1800" i="1">
                                <a:latin typeface="Cambria Math" panose="02040503050406030204" pitchFamily="18" charset="0"/>
                              </a:rPr>
                              <m:t>𝐶</m:t>
                            </m:r>
                          </m:e>
                          <m:sub>
                            <m:r>
                              <a:rPr lang="en-IN" sz="1800" i="1">
                                <a:latin typeface="Cambria Math" panose="02040503050406030204" pitchFamily="18" charset="0"/>
                              </a:rPr>
                              <m:t>𝑒</m:t>
                            </m:r>
                          </m:sub>
                        </m:sSub>
                      </m:num>
                      <m:den>
                        <m:sSub>
                          <m:sSubPr>
                            <m:ctrlPr>
                              <a:rPr lang="en-IN" sz="1800" i="1">
                                <a:latin typeface="Cambria Math" panose="02040503050406030204" pitchFamily="18" charset="0"/>
                              </a:rPr>
                            </m:ctrlPr>
                          </m:sSubPr>
                          <m:e>
                            <m:r>
                              <a:rPr lang="en-IN" sz="1800" i="1">
                                <a:latin typeface="Cambria Math" panose="02040503050406030204" pitchFamily="18" charset="0"/>
                              </a:rPr>
                              <m:t>𝐶</m:t>
                            </m:r>
                          </m:e>
                          <m:sub>
                            <m:r>
                              <a:rPr lang="en-IN" sz="1800" i="1">
                                <a:latin typeface="Cambria Math" panose="02040503050406030204" pitchFamily="18" charset="0"/>
                              </a:rPr>
                              <m:t>𝑎</m:t>
                            </m:r>
                          </m:sub>
                        </m:sSub>
                        <m:r>
                          <a:rPr lang="en-IN" sz="1800" i="1">
                            <a:latin typeface="Cambria Math" panose="02040503050406030204" pitchFamily="18" charset="0"/>
                          </a:rPr>
                          <m:t>+</m:t>
                        </m:r>
                        <m:sSub>
                          <m:sSubPr>
                            <m:ctrlPr>
                              <a:rPr lang="en-IN" sz="1800" i="1">
                                <a:latin typeface="Cambria Math" panose="02040503050406030204" pitchFamily="18" charset="0"/>
                              </a:rPr>
                            </m:ctrlPr>
                          </m:sSubPr>
                          <m:e>
                            <m:r>
                              <a:rPr lang="en-IN" sz="1800" i="1">
                                <a:latin typeface="Cambria Math" panose="02040503050406030204" pitchFamily="18" charset="0"/>
                              </a:rPr>
                              <m:t>𝐶</m:t>
                            </m:r>
                          </m:e>
                          <m:sub>
                            <m:r>
                              <a:rPr lang="en-IN" sz="1800" i="1">
                                <a:latin typeface="Cambria Math" panose="02040503050406030204" pitchFamily="18" charset="0"/>
                              </a:rPr>
                              <m:t>𝑒</m:t>
                            </m:r>
                          </m:sub>
                        </m:sSub>
                      </m:den>
                    </m:f>
                  </m:oMath>
                </a14:m>
                <a:endParaRPr lang="en-IN" sz="1800" dirty="0"/>
              </a:p>
              <a:p>
                <a:pPr lvl="1">
                  <a:lnSpc>
                    <a:spcPct val="150000"/>
                  </a:lnSpc>
                </a:pPr>
                <a:r>
                  <a:rPr lang="en-US" sz="1800" dirty="0"/>
                  <a:t>Value is between 0 and 1.</a:t>
                </a:r>
              </a:p>
              <a:p>
                <a:pPr lvl="1">
                  <a:lnSpc>
                    <a:spcPct val="150000"/>
                  </a:lnSpc>
                </a:pPr>
                <a:r>
                  <a:rPr lang="en-US" sz="1800" dirty="0"/>
                  <a:t>High instability means a component is very sensitive to changes in other modules, which can make it hard to maintain.</a:t>
                </a:r>
              </a:p>
              <a:p>
                <a:pPr lvl="1">
                  <a:lnSpc>
                    <a:spcPct val="150000"/>
                  </a:lnSpc>
                </a:pPr>
                <a:r>
                  <a:rPr lang="en-US" sz="1800" dirty="0"/>
                  <a:t>The ideal design encourages less stable (higher </a:t>
                </a:r>
                <a14:m>
                  <m:oMath xmlns:m="http://schemas.openxmlformats.org/officeDocument/2006/math">
                    <m:r>
                      <a:rPr lang="en-IN" sz="1800" i="1">
                        <a:latin typeface="Cambria Math" panose="02040503050406030204" pitchFamily="18" charset="0"/>
                      </a:rPr>
                      <m:t>𝐼</m:t>
                    </m:r>
                  </m:oMath>
                </a14:m>
                <a:r>
                  <a:rPr lang="en-US" sz="1800" dirty="0"/>
                  <a:t>) components to depend on more stable (lower </a:t>
                </a:r>
                <a14:m>
                  <m:oMath xmlns:m="http://schemas.openxmlformats.org/officeDocument/2006/math">
                    <m:r>
                      <a:rPr lang="en-IN" sz="1800" i="1">
                        <a:latin typeface="Cambria Math" panose="02040503050406030204" pitchFamily="18" charset="0"/>
                      </a:rPr>
                      <m:t>𝐼</m:t>
                    </m:r>
                  </m:oMath>
                </a14:m>
                <a:r>
                  <a:rPr lang="en-US" sz="1800" dirty="0"/>
                  <a:t>) components.</a:t>
                </a:r>
              </a:p>
              <a:p>
                <a:pPr lvl="1">
                  <a:lnSpc>
                    <a:spcPct val="150000"/>
                  </a:lnSpc>
                </a:pPr>
                <a:r>
                  <a:rPr lang="en-US" sz="1800" dirty="0"/>
                  <a:t>High instability is not inherently bad, as it depends on the context of the project and the libraries involved. </a:t>
                </a:r>
              </a:p>
            </p:txBody>
          </p:sp>
        </mc:Choice>
        <mc:Fallback>
          <p:sp>
            <p:nvSpPr>
              <p:cNvPr id="3" name="Content Placeholder 2">
                <a:extLst>
                  <a:ext uri="{FF2B5EF4-FFF2-40B4-BE49-F238E27FC236}">
                    <a16:creationId xmlns:a16="http://schemas.microsoft.com/office/drawing/2014/main" id="{5C07A665-BEC8-9CDC-4321-237A540AD759}"/>
                  </a:ext>
                </a:extLst>
              </p:cNvPr>
              <p:cNvSpPr>
                <a:spLocks noGrp="1" noRot="1" noChangeAspect="1" noMove="1" noResize="1" noEditPoints="1" noAdjustHandles="1" noChangeArrowheads="1" noChangeShapeType="1" noTextEdit="1"/>
              </p:cNvSpPr>
              <p:nvPr>
                <p:ph idx="1"/>
              </p:nvPr>
            </p:nvSpPr>
            <p:spPr>
              <a:xfrm>
                <a:off x="538042" y="1263226"/>
                <a:ext cx="11229310" cy="4675910"/>
              </a:xfrm>
              <a:blipFill>
                <a:blip r:embed="rId2"/>
                <a:stretch>
                  <a:fillRect l="-326" r="-543"/>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A73B60A6-1896-6101-C258-2E57129F315B}"/>
              </a:ext>
            </a:extLst>
          </p:cNvPr>
          <p:cNvSpPr txBox="1"/>
          <p:nvPr/>
        </p:nvSpPr>
        <p:spPr>
          <a:xfrm>
            <a:off x="755544" y="5934670"/>
            <a:ext cx="10515600" cy="738664"/>
          </a:xfrm>
          <a:prstGeom prst="rect">
            <a:avLst/>
          </a:prstGeom>
          <a:noFill/>
        </p:spPr>
        <p:txBody>
          <a:bodyPr wrap="square" rtlCol="0">
            <a:spAutoFit/>
          </a:bodyPr>
          <a:lstStyle/>
          <a:p>
            <a:r>
              <a:rPr lang="en-IN" sz="1400" u="sng" dirty="0"/>
              <a:t>References: </a:t>
            </a:r>
          </a:p>
          <a:p>
            <a:pPr marL="342900" indent="-342900">
              <a:buAutoNum type="arabicPeriod"/>
            </a:pPr>
            <a:r>
              <a:rPr lang="en-IN" sz="1400" dirty="0"/>
              <a:t>Robert C. Martin (2002). Agile Software Development: Principles, Patterns, and Practices.</a:t>
            </a:r>
          </a:p>
          <a:p>
            <a:pPr marL="342900" indent="-342900">
              <a:buAutoNum type="arabicPeriod"/>
            </a:pPr>
            <a:r>
              <a:rPr lang="en-IN" sz="1400" dirty="0">
                <a:hlinkClick r:id="rId3"/>
              </a:rPr>
              <a:t>https://en.wikipedia.org/wiki/Software_package_metrics</a:t>
            </a:r>
            <a:endParaRPr lang="en-IN" sz="1400" dirty="0"/>
          </a:p>
        </p:txBody>
      </p:sp>
    </p:spTree>
    <p:extLst>
      <p:ext uri="{BB962C8B-B14F-4D97-AF65-F5344CB8AC3E}">
        <p14:creationId xmlns:p14="http://schemas.microsoft.com/office/powerpoint/2010/main" val="3950674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5BAA9-D7CB-2759-5BF4-FEA00EAED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51F09-3A99-D9D1-DC51-0F8A986A2D1A}"/>
              </a:ext>
            </a:extLst>
          </p:cNvPr>
          <p:cNvSpPr>
            <a:spLocks noGrp="1"/>
          </p:cNvSpPr>
          <p:nvPr>
            <p:ph type="title"/>
          </p:nvPr>
        </p:nvSpPr>
        <p:spPr>
          <a:xfrm>
            <a:off x="838200" y="-2454"/>
            <a:ext cx="10515600" cy="1325563"/>
          </a:xfrm>
        </p:spPr>
        <p:txBody>
          <a:bodyPr/>
          <a:lstStyle/>
          <a:p>
            <a:r>
              <a:rPr lang="en-IN" dirty="0"/>
              <a:t>Coupling Metrics Report Generation</a:t>
            </a:r>
          </a:p>
        </p:txBody>
      </p:sp>
      <p:sp>
        <p:nvSpPr>
          <p:cNvPr id="3" name="Content Placeholder 2">
            <a:extLst>
              <a:ext uri="{FF2B5EF4-FFF2-40B4-BE49-F238E27FC236}">
                <a16:creationId xmlns:a16="http://schemas.microsoft.com/office/drawing/2014/main" id="{B975A8EE-223F-C33A-E8CD-F6B69189A74C}"/>
              </a:ext>
            </a:extLst>
          </p:cNvPr>
          <p:cNvSpPr>
            <a:spLocks noGrp="1"/>
          </p:cNvSpPr>
          <p:nvPr>
            <p:ph idx="1"/>
          </p:nvPr>
        </p:nvSpPr>
        <p:spPr>
          <a:xfrm>
            <a:off x="595746" y="1198418"/>
            <a:ext cx="10758054" cy="4800601"/>
          </a:xfrm>
        </p:spPr>
        <p:txBody>
          <a:bodyPr>
            <a:normAutofit/>
          </a:bodyPr>
          <a:lstStyle/>
          <a:p>
            <a:pPr>
              <a:lnSpc>
                <a:spcPct val="150000"/>
              </a:lnSpc>
            </a:pPr>
            <a:r>
              <a:rPr lang="en-IN" dirty="0"/>
              <a:t>calculate_coupling_metrics.py</a:t>
            </a:r>
          </a:p>
          <a:p>
            <a:pPr>
              <a:lnSpc>
                <a:spcPct val="150000"/>
              </a:lnSpc>
            </a:pPr>
            <a:endParaRPr lang="en-IN" sz="2500" dirty="0"/>
          </a:p>
        </p:txBody>
      </p:sp>
      <p:pic>
        <p:nvPicPr>
          <p:cNvPr id="6" name="Picture 5">
            <a:extLst>
              <a:ext uri="{FF2B5EF4-FFF2-40B4-BE49-F238E27FC236}">
                <a16:creationId xmlns:a16="http://schemas.microsoft.com/office/drawing/2014/main" id="{A025A0FB-53D9-BB89-399F-77A77DF877A3}"/>
              </a:ext>
            </a:extLst>
          </p:cNvPr>
          <p:cNvPicPr>
            <a:picLocks noChangeAspect="1"/>
          </p:cNvPicPr>
          <p:nvPr/>
        </p:nvPicPr>
        <p:blipFill>
          <a:blip r:embed="rId2"/>
          <a:stretch>
            <a:fillRect/>
          </a:stretch>
        </p:blipFill>
        <p:spPr>
          <a:xfrm>
            <a:off x="838200" y="2012563"/>
            <a:ext cx="5666163" cy="4370729"/>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CA5F358-820E-5792-1968-F76B29489A60}"/>
                  </a:ext>
                </a:extLst>
              </p:cNvPr>
              <p:cNvSpPr txBox="1"/>
              <p:nvPr/>
            </p:nvSpPr>
            <p:spPr>
              <a:xfrm>
                <a:off x="6746817" y="1491785"/>
                <a:ext cx="4648199" cy="4858189"/>
              </a:xfrm>
              <a:prstGeom prst="rect">
                <a:avLst/>
              </a:prstGeom>
              <a:noFill/>
            </p:spPr>
            <p:txBody>
              <a:bodyPr wrap="square" rtlCol="0">
                <a:spAutoFit/>
              </a:bodyPr>
              <a:lstStyle/>
              <a:p>
                <a:pPr marL="342900" indent="-342900">
                  <a:lnSpc>
                    <a:spcPct val="150000"/>
                  </a:lnSpc>
                  <a:buFont typeface="+mj-lt"/>
                  <a:buAutoNum type="arabicPeriod"/>
                </a:pPr>
                <a:r>
                  <a:rPr lang="en-IN" sz="1600" b="0" dirty="0"/>
                  <a:t> </a:t>
                </a:r>
                <a14:m>
                  <m:oMath xmlns:m="http://schemas.openxmlformats.org/officeDocument/2006/math">
                    <m:r>
                      <a:rPr lang="en-IN" sz="1600" b="0" i="1" smtClean="0">
                        <a:latin typeface="Cambria Math" panose="02040503050406030204" pitchFamily="18" charset="0"/>
                      </a:rPr>
                      <m:t> </m:t>
                    </m:r>
                    <m:r>
                      <a:rPr lang="en-IN" sz="1600" i="1">
                        <a:latin typeface="Cambria Math" panose="02040503050406030204" pitchFamily="18" charset="0"/>
                      </a:rPr>
                      <m:t>𝐼</m:t>
                    </m:r>
                  </m:oMath>
                </a14:m>
                <a:r>
                  <a:rPr lang="en-IN" sz="1600" dirty="0"/>
                  <a:t> values closer to 0 indicates stable libraries.</a:t>
                </a:r>
              </a:p>
              <a:p>
                <a:pPr marL="342900" indent="-342900">
                  <a:lnSpc>
                    <a:spcPct val="150000"/>
                  </a:lnSpc>
                  <a:buFont typeface="+mj-lt"/>
                  <a:buAutoNum type="arabicPeriod"/>
                </a:pPr>
                <a:r>
                  <a:rPr lang="en-IN" sz="1600" dirty="0"/>
                  <a:t> </a:t>
                </a:r>
                <a14:m>
                  <m:oMath xmlns:m="http://schemas.openxmlformats.org/officeDocument/2006/math">
                    <m:r>
                      <a:rPr lang="en-IN" sz="1600" i="1">
                        <a:latin typeface="Cambria Math" panose="02040503050406030204" pitchFamily="18" charset="0"/>
                      </a:rPr>
                      <m:t>𝐼</m:t>
                    </m:r>
                  </m:oMath>
                </a14:m>
                <a:r>
                  <a:rPr lang="en-IN" sz="1600" dirty="0"/>
                  <a:t> values closer to 1 indicates instability.</a:t>
                </a:r>
              </a:p>
              <a:p>
                <a:pPr marL="342900" indent="-342900">
                  <a:lnSpc>
                    <a:spcPct val="150000"/>
                  </a:lnSpc>
                  <a:buFont typeface="+mj-lt"/>
                  <a:buAutoNum type="arabicPeriod"/>
                </a:pPr>
                <a:r>
                  <a:rPr lang="en-IN" sz="1600" dirty="0"/>
                  <a:t>The top level modules would have </a:t>
                </a:r>
                <a14:m>
                  <m:oMath xmlns:m="http://schemas.openxmlformats.org/officeDocument/2006/math">
                    <m:r>
                      <a:rPr lang="en-IN" sz="1600" i="1">
                        <a:latin typeface="Cambria Math" panose="02040503050406030204" pitchFamily="18" charset="0"/>
                      </a:rPr>
                      <m:t>𝐼</m:t>
                    </m:r>
                    <m:r>
                      <a:rPr lang="en-IN" sz="1600" b="0" i="1" smtClean="0">
                        <a:latin typeface="Cambria Math" panose="02040503050406030204" pitchFamily="18" charset="0"/>
                      </a:rPr>
                      <m:t>= </m:t>
                    </m:r>
                  </m:oMath>
                </a14:m>
                <a:r>
                  <a:rPr lang="en-IN" sz="1600" dirty="0"/>
                  <a:t>1, since it will not be called by any other modules (Ca=0).</a:t>
                </a:r>
              </a:p>
              <a:p>
                <a:pPr marL="342900" indent="-342900">
                  <a:lnSpc>
                    <a:spcPct val="150000"/>
                  </a:lnSpc>
                  <a:buFont typeface="+mj-lt"/>
                  <a:buAutoNum type="arabicPeriod"/>
                </a:pPr>
                <a:r>
                  <a:rPr lang="en-IN" sz="1600" dirty="0"/>
                  <a:t>Libraries with low Ce values </a:t>
                </a:r>
                <a:r>
                  <a:rPr lang="en-IN" sz="1600" dirty="0">
                    <a:sym typeface="Wingdings" panose="05000000000000000000" pitchFamily="2" charset="2"/>
                  </a:rPr>
                  <a:t></a:t>
                </a:r>
                <a:r>
                  <a:rPr lang="en-IN" sz="1600" dirty="0"/>
                  <a:t> Indicates they do not call many other libraries and are mostly independent. </a:t>
                </a:r>
              </a:p>
              <a:p>
                <a:pPr marL="342900" indent="-342900">
                  <a:lnSpc>
                    <a:spcPct val="150000"/>
                  </a:lnSpc>
                  <a:buFont typeface="+mj-lt"/>
                  <a:buAutoNum type="arabicPeriod"/>
                </a:pPr>
                <a:r>
                  <a:rPr lang="en-IN" sz="1600" dirty="0"/>
                  <a:t>Libraries with high Ca values </a:t>
                </a:r>
                <a:r>
                  <a:rPr lang="en-IN" sz="1600" dirty="0">
                    <a:sym typeface="Wingdings" panose="05000000000000000000" pitchFamily="2" charset="2"/>
                  </a:rPr>
                  <a:t> Indicates they are actively used in many libraries. Changing it can have impact on other libraries.</a:t>
                </a:r>
              </a:p>
              <a:p>
                <a:pPr marL="342900" indent="-342900">
                  <a:lnSpc>
                    <a:spcPct val="150000"/>
                  </a:lnSpc>
                  <a:buFont typeface="+mj-lt"/>
                  <a:buAutoNum type="arabicPeriod"/>
                </a:pPr>
                <a:r>
                  <a:rPr lang="en-IN" sz="1600" dirty="0">
                    <a:sym typeface="Wingdings" panose="05000000000000000000" pitchFamily="2" charset="2"/>
                  </a:rPr>
                  <a:t>Average Instability of all the libraries helps understand overall stability of the system.</a:t>
                </a:r>
                <a:endParaRPr lang="en-IN" sz="1600" dirty="0"/>
              </a:p>
            </p:txBody>
          </p:sp>
        </mc:Choice>
        <mc:Fallback>
          <p:sp>
            <p:nvSpPr>
              <p:cNvPr id="4" name="TextBox 3">
                <a:extLst>
                  <a:ext uri="{FF2B5EF4-FFF2-40B4-BE49-F238E27FC236}">
                    <a16:creationId xmlns:a16="http://schemas.microsoft.com/office/drawing/2014/main" id="{9CA5F358-820E-5792-1968-F76B29489A60}"/>
                  </a:ext>
                </a:extLst>
              </p:cNvPr>
              <p:cNvSpPr txBox="1">
                <a:spLocks noRot="1" noChangeAspect="1" noMove="1" noResize="1" noEditPoints="1" noAdjustHandles="1" noChangeArrowheads="1" noChangeShapeType="1" noTextEdit="1"/>
              </p:cNvSpPr>
              <p:nvPr/>
            </p:nvSpPr>
            <p:spPr>
              <a:xfrm>
                <a:off x="6746817" y="1491785"/>
                <a:ext cx="4648199" cy="4858189"/>
              </a:xfrm>
              <a:prstGeom prst="rect">
                <a:avLst/>
              </a:prstGeom>
              <a:blipFill>
                <a:blip r:embed="rId3"/>
                <a:stretch>
                  <a:fillRect l="-787" b="-627"/>
                </a:stretch>
              </a:blipFill>
            </p:spPr>
            <p:txBody>
              <a:bodyPr/>
              <a:lstStyle/>
              <a:p>
                <a:r>
                  <a:rPr lang="en-IN">
                    <a:noFill/>
                  </a:rPr>
                  <a:t> </a:t>
                </a:r>
              </a:p>
            </p:txBody>
          </p:sp>
        </mc:Fallback>
      </mc:AlternateContent>
    </p:spTree>
    <p:extLst>
      <p:ext uri="{BB962C8B-B14F-4D97-AF65-F5344CB8AC3E}">
        <p14:creationId xmlns:p14="http://schemas.microsoft.com/office/powerpoint/2010/main" val="3168348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EFD38-D58A-731A-CF7A-2F91D7BF4754}"/>
              </a:ext>
            </a:extLst>
          </p:cNvPr>
          <p:cNvSpPr>
            <a:spLocks noGrp="1"/>
          </p:cNvSpPr>
          <p:nvPr>
            <p:ph type="title"/>
          </p:nvPr>
        </p:nvSpPr>
        <p:spPr>
          <a:xfrm>
            <a:off x="727363" y="366060"/>
            <a:ext cx="10515600" cy="459628"/>
          </a:xfrm>
        </p:spPr>
        <p:txBody>
          <a:bodyPr>
            <a:normAutofit fontScale="90000"/>
          </a:bodyPr>
          <a:lstStyle/>
          <a:p>
            <a:r>
              <a:rPr lang="en-IN" sz="3600" dirty="0"/>
              <a:t>Summary: Advantages of Automated Dependency Monitoring</a:t>
            </a:r>
          </a:p>
        </p:txBody>
      </p:sp>
      <p:sp>
        <p:nvSpPr>
          <p:cNvPr id="3" name="Content Placeholder 2">
            <a:extLst>
              <a:ext uri="{FF2B5EF4-FFF2-40B4-BE49-F238E27FC236}">
                <a16:creationId xmlns:a16="http://schemas.microsoft.com/office/drawing/2014/main" id="{613980BF-CF80-B0D4-BB71-C72AEFB4A00D}"/>
              </a:ext>
            </a:extLst>
          </p:cNvPr>
          <p:cNvSpPr>
            <a:spLocks noGrp="1"/>
          </p:cNvSpPr>
          <p:nvPr>
            <p:ph idx="1"/>
          </p:nvPr>
        </p:nvSpPr>
        <p:spPr>
          <a:xfrm>
            <a:off x="616527" y="1008528"/>
            <a:ext cx="10737273" cy="5483412"/>
          </a:xfrm>
        </p:spPr>
        <p:txBody>
          <a:bodyPr>
            <a:normAutofit lnSpcReduction="10000"/>
          </a:bodyPr>
          <a:lstStyle/>
          <a:p>
            <a:pPr fontAlgn="base">
              <a:lnSpc>
                <a:spcPct val="150000"/>
              </a:lnSpc>
            </a:pPr>
            <a:r>
              <a:rPr lang="en-IN" sz="1600" dirty="0"/>
              <a:t>✅ </a:t>
            </a:r>
            <a:r>
              <a:rPr lang="en-US" sz="1600" dirty="0"/>
              <a:t>Maintained Architectural Integrity: Dependencies strictly adhere to the defined architecture, preventing circular references and unnecessary coupling. </a:t>
            </a:r>
          </a:p>
          <a:p>
            <a:pPr fontAlgn="base">
              <a:lnSpc>
                <a:spcPct val="150000"/>
              </a:lnSpc>
            </a:pPr>
            <a:r>
              <a:rPr lang="en-IN" sz="1600" dirty="0"/>
              <a:t>✅ </a:t>
            </a:r>
            <a:r>
              <a:rPr lang="en-US" sz="1600" dirty="0"/>
              <a:t>Enhanced Reusability: Modules remain focused and free from unwanted dependencies, simplifying reuse in future projects. </a:t>
            </a:r>
          </a:p>
          <a:p>
            <a:pPr fontAlgn="base">
              <a:lnSpc>
                <a:spcPct val="150000"/>
              </a:lnSpc>
            </a:pPr>
            <a:r>
              <a:rPr lang="en-IN" sz="1600" dirty="0"/>
              <a:t>✅ </a:t>
            </a:r>
            <a:r>
              <a:rPr lang="en-US" sz="1600" dirty="0"/>
              <a:t>Improved Maintainability: Clearer, more stable modules are easier to isolate and test, debug, and update independently. </a:t>
            </a:r>
          </a:p>
          <a:p>
            <a:pPr fontAlgn="base">
              <a:lnSpc>
                <a:spcPct val="150000"/>
              </a:lnSpc>
            </a:pPr>
            <a:r>
              <a:rPr lang="en-IN" sz="1600" dirty="0"/>
              <a:t>✅ </a:t>
            </a:r>
            <a:r>
              <a:rPr lang="en-US" sz="1600" dirty="0"/>
              <a:t>Guided Architectural Changes: In scenarios where a dependency needs to be introduced and design must be changed – Since the CI Pipeline prevents the merge to the main code branch – Developers will consult with Tech Leads/Architects and seek their guidance/approval before the implementation. </a:t>
            </a:r>
          </a:p>
          <a:p>
            <a:pPr fontAlgn="base">
              <a:lnSpc>
                <a:spcPct val="150000"/>
              </a:lnSpc>
            </a:pPr>
            <a:r>
              <a:rPr lang="en-IN" sz="1600" dirty="0"/>
              <a:t>✅ </a:t>
            </a:r>
            <a:r>
              <a:rPr lang="en-US" sz="1600" dirty="0"/>
              <a:t>Streamlined Development: Since the separation of concerns is verified by CI Pipeline, the multiple developers working on the project will have reduced code conflicts.  </a:t>
            </a:r>
          </a:p>
          <a:p>
            <a:pPr fontAlgn="base">
              <a:lnSpc>
                <a:spcPct val="150000"/>
              </a:lnSpc>
            </a:pPr>
            <a:r>
              <a:rPr lang="en-IN" sz="1600" dirty="0"/>
              <a:t>✅ </a:t>
            </a:r>
            <a:r>
              <a:rPr lang="en-US" sz="1600" dirty="0"/>
              <a:t>Reduced Code Review Time: Automated checks minimize manual dependency reviews. </a:t>
            </a:r>
          </a:p>
          <a:p>
            <a:pPr fontAlgn="base">
              <a:lnSpc>
                <a:spcPct val="150000"/>
              </a:lnSpc>
            </a:pPr>
            <a:r>
              <a:rPr lang="en-IN" sz="1600" dirty="0"/>
              <a:t>✅ </a:t>
            </a:r>
            <a:r>
              <a:rPr lang="en-US" sz="1600" dirty="0"/>
              <a:t>Faster Loading: Fewer dependencies lead to quicker LabVIEW project loading times. </a:t>
            </a:r>
          </a:p>
        </p:txBody>
      </p:sp>
    </p:spTree>
    <p:extLst>
      <p:ext uri="{BB962C8B-B14F-4D97-AF65-F5344CB8AC3E}">
        <p14:creationId xmlns:p14="http://schemas.microsoft.com/office/powerpoint/2010/main" val="9833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A4EBC-FE52-94C4-DE3E-C7D0E925C19B}"/>
              </a:ext>
            </a:extLst>
          </p:cNvPr>
          <p:cNvSpPr>
            <a:spLocks noGrp="1"/>
          </p:cNvSpPr>
          <p:nvPr>
            <p:ph type="ctrTitle"/>
          </p:nvPr>
        </p:nvSpPr>
        <p:spPr/>
        <p:txBody>
          <a:bodyPr/>
          <a:lstStyle/>
          <a:p>
            <a:r>
              <a:rPr lang="en-US" dirty="0"/>
              <a:t>Thank You</a:t>
            </a:r>
            <a:endParaRPr lang="en-IN" dirty="0"/>
          </a:p>
        </p:txBody>
      </p:sp>
    </p:spTree>
    <p:extLst>
      <p:ext uri="{BB962C8B-B14F-4D97-AF65-F5344CB8AC3E}">
        <p14:creationId xmlns:p14="http://schemas.microsoft.com/office/powerpoint/2010/main" val="548370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884</TotalTime>
  <Words>4026</Words>
  <Application>Microsoft Office PowerPoint</Application>
  <PresentationFormat>Widescreen</PresentationFormat>
  <Paragraphs>365</Paragraphs>
  <Slides>33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Aptos</vt:lpstr>
      <vt:lpstr>Aptos Display</vt:lpstr>
      <vt:lpstr>Arial</vt:lpstr>
      <vt:lpstr>Calibri</vt:lpstr>
      <vt:lpstr>Cambria Math</vt:lpstr>
      <vt:lpstr>Consolas</vt:lpstr>
      <vt:lpstr>Courier New</vt:lpstr>
      <vt:lpstr>Wingdings</vt:lpstr>
      <vt:lpstr>office theme</vt:lpstr>
      <vt:lpstr>Maintaining Architectural Integrity  With Automated Dependency Monitoring in CI</vt:lpstr>
      <vt:lpstr>Agenda</vt:lpstr>
      <vt:lpstr>Problem Statement</vt:lpstr>
      <vt:lpstr>PowerPoint Presentation</vt:lpstr>
      <vt:lpstr>Solution Approach</vt:lpstr>
      <vt:lpstr>Expected Dependencies File (.deps)</vt:lpstr>
      <vt:lpstr>Actual Dependencies (.lvproj)</vt:lpstr>
      <vt:lpstr>Dependency Check – Examples </vt:lpstr>
      <vt:lpstr>Automate Unexpected Dependencies Check</vt:lpstr>
      <vt:lpstr>Consolidated Actual Dependencies List (.adeps)</vt:lpstr>
      <vt:lpstr>Development Workflow</vt:lpstr>
      <vt:lpstr>Example Codebase for Demonstration</vt:lpstr>
      <vt:lpstr>Example Codebase – Folder Structure</vt:lpstr>
      <vt:lpstr>Demonstration </vt:lpstr>
      <vt:lpstr>Initial Setup</vt:lpstr>
      <vt:lpstr>Setting up Dependency Monitoring Files</vt:lpstr>
      <vt:lpstr>Setting up Dependency Monitoring Files</vt:lpstr>
      <vt:lpstr>Setting up Dependency Monitoring Files</vt:lpstr>
      <vt:lpstr>Demonstration</vt:lpstr>
      <vt:lpstr>Demonstration – Sample Failure in CI Pipeline</vt:lpstr>
      <vt:lpstr>Demonstration – Merge Blocked by CI Pipeline</vt:lpstr>
      <vt:lpstr>List of Available YMLs</vt:lpstr>
      <vt:lpstr>List of Available Tools</vt:lpstr>
      <vt:lpstr>List of Available Tools</vt:lpstr>
      <vt:lpstr>Example Codebase for Visualization</vt:lpstr>
      <vt:lpstr>Dependency Visualization Tools</vt:lpstr>
      <vt:lpstr>Dependency Visualization Tools</vt:lpstr>
      <vt:lpstr>Additional CI Pipeline Checks – Yet to be implemented For effective dependency monitoring and improved code quality</vt:lpstr>
      <vt:lpstr>Short Introduction to Coupling Metrics</vt:lpstr>
      <vt:lpstr>Short Introduction to Coupling Metrics</vt:lpstr>
      <vt:lpstr>Coupling Metrics Report Generation</vt:lpstr>
      <vt:lpstr>Summary: Advantages of Automated Dependency Monitoring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Karthick Shanmuga Rao (karthikssfeb@gmail.com)</dc:creator>
  <cp:lastModifiedBy>Karthick S</cp:lastModifiedBy>
  <cp:revision>40</cp:revision>
  <dcterms:created xsi:type="dcterms:W3CDTF">2026-02-16T04:41:49Z</dcterms:created>
  <dcterms:modified xsi:type="dcterms:W3CDTF">2026-03-09T19:56:51Z</dcterms:modified>
</cp:coreProperties>
</file>